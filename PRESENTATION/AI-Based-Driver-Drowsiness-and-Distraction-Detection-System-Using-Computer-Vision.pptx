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1695" cy="6858000"/>
  <p:notesSz cx="6858000" cy="12191695"/>
  <p:embeddedFontLst>
    <p:embeddedFont>
      <p:font typeface="Inter Bold"/>
      <p:regular r:id="rId201314"/>
    </p:embeddedFont>
    <p:embeddedFont>
      <p:font typeface="Inter"/>
      <p:regular r:id="rId201315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Relationship Id="rId201314" Target="fonts/201314.fntdata" Type="http://schemas.openxmlformats.org/officeDocument/2006/relationships/font"/><Relationship Id="rId201315" Target="fonts/201315.fntdata" Type="http://schemas.openxmlformats.org/officeDocument/2006/relationships/font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3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3-1.jpeg"/><Relationship Id="rId2" Type="http://schemas.openxmlformats.org/officeDocument/2006/relationships/image" Target="../media/image-1002-1.png"/><Relationship Id="rId4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4-1.jpeg"/><Relationship Id="rId2" Type="http://schemas.openxmlformats.org/officeDocument/2006/relationships/image" Target="../media/image-1002-1.png"/><Relationship Id="rId4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2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>
              <a:alpha val="60000"/>
            </a:srgbClr>
          </a:solidFill>
          <a:ln/>
        </p:spPr>
      </p:sp>
      <p:pic>
        <p:nvPicPr>
          <p:cNvPr id="6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3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983615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0" y="0"/>
            <a:ext cx="12191695" cy="9836150"/>
          </a:xfrm>
          <a:prstGeom prst="rect">
            <a:avLst/>
          </a:prstGeom>
          <a:solidFill>
            <a:srgbClr val="FFFFFF">
              <a:alpha val="60000"/>
            </a:srgbClr>
          </a:solidFill>
          <a:ln/>
        </p:spPr>
      </p:sp>
      <p:pic>
        <p:nvPicPr>
          <p:cNvPr id="6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svg"/><Relationship Id="rId3" Type="http://schemas.openxmlformats.org/officeDocument/2006/relationships/image" Target="../media/image-3-3.png"/><Relationship Id="rId4" Type="http://schemas.openxmlformats.org/officeDocument/2006/relationships/image" Target="../media/image-3-4.svg"/><Relationship Id="rId5" Type="http://schemas.openxmlformats.org/officeDocument/2006/relationships/image" Target="../media/image-3-1.png"/><Relationship Id="rId6" Type="http://schemas.openxmlformats.org/officeDocument/2006/relationships/image" Target="../media/image-3-2.svg"/><Relationship Id="rId7" Type="http://schemas.openxmlformats.org/officeDocument/2006/relationships/image" Target="../media/image-3-7.png"/><Relationship Id="rId8" Type="http://schemas.openxmlformats.org/officeDocument/2006/relationships/image" Target="../media/image-3-8.svg"/><Relationship Id="rId9" Type="http://schemas.openxmlformats.org/officeDocument/2006/relationships/image" Target="../media/image-3-9.png"/><Relationship Id="rId10" Type="http://schemas.openxmlformats.org/officeDocument/2006/relationships/image" Target="../media/image-3-10.svg"/><Relationship Id="rId11" Type="http://schemas.openxmlformats.org/officeDocument/2006/relationships/image" Target="../media/image-3-11.png"/><Relationship Id="rId12" Type="http://schemas.openxmlformats.org/officeDocument/2006/relationships/image" Target="../media/image-3-12.svg"/><Relationship Id="rId13" Type="http://schemas.openxmlformats.org/officeDocument/2006/relationships/image" Target="../media/image-3-9.png"/><Relationship Id="rId14" Type="http://schemas.openxmlformats.org/officeDocument/2006/relationships/image" Target="../media/image-3-10.svg"/><Relationship Id="rId15" Type="http://schemas.openxmlformats.org/officeDocument/2006/relationships/image" Target="../media/image-3-15.png"/><Relationship Id="rId16" Type="http://schemas.openxmlformats.org/officeDocument/2006/relationships/image" Target="../media/image-3-16.svg"/><Relationship Id="rId17" Type="http://schemas.openxmlformats.org/officeDocument/2006/relationships/image" Target="../media/image-3-1.png"/><Relationship Id="rId18" Type="http://schemas.openxmlformats.org/officeDocument/2006/relationships/image" Target="../media/image-3-2.svg"/><Relationship Id="rId19" Type="http://schemas.openxmlformats.org/officeDocument/2006/relationships/image" Target="../media/image-3-19.png"/><Relationship Id="rId20" Type="http://schemas.openxmlformats.org/officeDocument/2006/relationships/image" Target="../media/image-3-20.svg"/><Relationship Id="rId21" Type="http://schemas.openxmlformats.org/officeDocument/2006/relationships/image" Target="../media/image-3-1.png"/><Relationship Id="rId22" Type="http://schemas.openxmlformats.org/officeDocument/2006/relationships/image" Target="../media/image-3-2.svg"/><Relationship Id="rId23" Type="http://schemas.openxmlformats.org/officeDocument/2006/relationships/image" Target="../media/image-3-23.png"/><Relationship Id="rId24" Type="http://schemas.openxmlformats.org/officeDocument/2006/relationships/image" Target="../media/image-3-24.svg"/><Relationship Id="rId25" Type="http://schemas.openxmlformats.org/officeDocument/2006/relationships/slideLayout" Target="../slideLayouts/slideLayout2.xml"/><Relationship Id="rId2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svg"/><Relationship Id="rId3" Type="http://schemas.openxmlformats.org/officeDocument/2006/relationships/image" Target="../media/image-6-3.png"/><Relationship Id="rId4" Type="http://schemas.openxmlformats.org/officeDocument/2006/relationships/image" Target="../media/image-6-4.svg"/><Relationship Id="rId5" Type="http://schemas.openxmlformats.org/officeDocument/2006/relationships/image" Target="../media/image-6-5.png"/><Relationship Id="rId6" Type="http://schemas.openxmlformats.org/officeDocument/2006/relationships/image" Target="../media/image-6-6.svg"/><Relationship Id="rId7" Type="http://schemas.openxmlformats.org/officeDocument/2006/relationships/image" Target="../media/image-6-7.png"/><Relationship Id="rId8" Type="http://schemas.openxmlformats.org/officeDocument/2006/relationships/image" Target="../media/image-6-8.svg"/><Relationship Id="rId9" Type="http://schemas.openxmlformats.org/officeDocument/2006/relationships/image" Target="../media/image-6-9.png"/><Relationship Id="rId10" Type="http://schemas.openxmlformats.org/officeDocument/2006/relationships/image" Target="../media/image-6-10.svg"/><Relationship Id="rId11" Type="http://schemas.openxmlformats.org/officeDocument/2006/relationships/image" Target="../media/image-6-11.png"/><Relationship Id="rId12" Type="http://schemas.openxmlformats.org/officeDocument/2006/relationships/image" Target="../media/image-6-12.svg"/><Relationship Id="rId13" Type="http://schemas.openxmlformats.org/officeDocument/2006/relationships/image" Target="../media/image-6-13.png"/><Relationship Id="rId14" Type="http://schemas.openxmlformats.org/officeDocument/2006/relationships/image" Target="../media/image-6-14.svg"/><Relationship Id="rId15" Type="http://schemas.openxmlformats.org/officeDocument/2006/relationships/image" Target="../media/image-6-15.png"/><Relationship Id="rId16" Type="http://schemas.openxmlformats.org/officeDocument/2006/relationships/image" Target="../media/image-6-16.svg"/><Relationship Id="rId17" Type="http://schemas.openxmlformats.org/officeDocument/2006/relationships/image" Target="../media/image-6-17.png"/><Relationship Id="rId18" Type="http://schemas.openxmlformats.org/officeDocument/2006/relationships/image" Target="../media/image-6-18.svg"/><Relationship Id="rId19" Type="http://schemas.openxmlformats.org/officeDocument/2006/relationships/slideLayout" Target="../slideLayouts/slideLayout2.xml"/><Relationship Id="rId20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slideLayout" Target="../slideLayouts/slideLayout4.xml"/><Relationship Id="rId7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image" Target="../media/image-15-3.png"/><Relationship Id="rId4" Type="http://schemas.openxmlformats.org/officeDocument/2006/relationships/image" Target="../media/image-15-4.png"/><Relationship Id="rId5" Type="http://schemas.openxmlformats.org/officeDocument/2006/relationships/image" Target="../media/image-15-5.png"/><Relationship Id="rId6" Type="http://schemas.openxmlformats.org/officeDocument/2006/relationships/image" Target="../media/image-15-6.png"/><Relationship Id="rId7" Type="http://schemas.openxmlformats.org/officeDocument/2006/relationships/image" Target="../media/image-15-7.png"/><Relationship Id="rId8" Type="http://schemas.openxmlformats.org/officeDocument/2006/relationships/image" Target="../media/image-15-8.png"/><Relationship Id="rId9" Type="http://schemas.openxmlformats.org/officeDocument/2006/relationships/image" Target="../media/image-15-9.png"/><Relationship Id="rId10" Type="http://schemas.openxmlformats.org/officeDocument/2006/relationships/image" Target="../media/image-15-10.png"/><Relationship Id="rId11" Type="http://schemas.openxmlformats.org/officeDocument/2006/relationships/image" Target="../media/image-15-11.png"/><Relationship Id="rId12" Type="http://schemas.openxmlformats.org/officeDocument/2006/relationships/image" Target="../media/image-15-12.png"/><Relationship Id="rId13" Type="http://schemas.openxmlformats.org/officeDocument/2006/relationships/image" Target="../media/image-15-13.png"/><Relationship Id="rId14" Type="http://schemas.openxmlformats.org/officeDocument/2006/relationships/image" Target="../media/image-15-14.png"/><Relationship Id="rId15" Type="http://schemas.openxmlformats.org/officeDocument/2006/relationships/image" Target="../media/image-15-15.png"/><Relationship Id="rId16" Type="http://schemas.openxmlformats.org/officeDocument/2006/relationships/image" Target="../media/image-15-16.png"/><Relationship Id="rId17" Type="http://schemas.openxmlformats.org/officeDocument/2006/relationships/slideLayout" Target="../slideLayouts/slideLayout2.xml"/><Relationship Id="rId18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19809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61475" y="543024"/>
            <a:ext cx="6296860" cy="331142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4150" b="1" spc="-125" kern="0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AI-Based Driver Drowsiness and Distraction Detection System Using Computer Vision</a:t>
            </a:r>
            <a:endParaRPr lang="en-US" sz="4150" dirty="0"/>
          </a:p>
        </p:txBody>
      </p:sp>
      <p:sp>
        <p:nvSpPr>
          <p:cNvPr id="4" name="Text 1"/>
          <p:cNvSpPr/>
          <p:nvPr/>
        </p:nvSpPr>
        <p:spPr>
          <a:xfrm>
            <a:off x="661475" y="4041577"/>
            <a:ext cx="6906444" cy="2226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200" b="1" spc="-24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Mini Project</a:t>
            </a:r>
            <a:endParaRPr lang="en-US" sz="1200" dirty="0"/>
          </a:p>
        </p:txBody>
      </p:sp>
      <p:sp>
        <p:nvSpPr>
          <p:cNvPr id="5" name="Shape 2"/>
          <p:cNvSpPr/>
          <p:nvPr/>
        </p:nvSpPr>
        <p:spPr>
          <a:xfrm>
            <a:off x="661475" y="4442817"/>
            <a:ext cx="6296860" cy="19050"/>
          </a:xfrm>
          <a:prstGeom prst="roundRect">
            <a:avLst>
              <a:gd name="adj" fmla="val 49999"/>
            </a:avLst>
          </a:prstGeom>
          <a:solidFill>
            <a:srgbClr val="272525">
              <a:alpha val="50000"/>
            </a:srgbClr>
          </a:solidFill>
          <a:ln/>
        </p:spPr>
      </p:sp>
      <p:sp>
        <p:nvSpPr>
          <p:cNvPr id="6" name="Text 3"/>
          <p:cNvSpPr/>
          <p:nvPr/>
        </p:nvSpPr>
        <p:spPr>
          <a:xfrm>
            <a:off x="661475" y="4640461"/>
            <a:ext cx="6296860" cy="1674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1000"/>
              </a:lnSpc>
              <a:spcAft>
                <a:spcPts val="1100"/>
              </a:spcAft>
              <a:buNone/>
            </a:pPr>
            <a:r>
              <a:rPr lang="en-US" sz="1200" b="1" spc="-24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Student Name:</a:t>
            </a:r>
            <a:pPr algn="l" indent="0" marL="0">
              <a:lnSpc>
                <a:spcPct val="121000"/>
              </a:lnSpc>
              <a:spcAft>
                <a:spcPts val="1100"/>
              </a:spcAft>
              <a:buNone/>
            </a:pPr>
            <a:r>
              <a:rPr lang="en-US" sz="1200" spc="-24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[Student Name]</a:t>
            </a:r>
            <a:endParaRPr lang="en-US" sz="1200" dirty="0"/>
          </a:p>
          <a:p>
            <a:pPr algn="l" indent="0" marL="0">
              <a:lnSpc>
                <a:spcPct val="121000"/>
              </a:lnSpc>
              <a:spcAft>
                <a:spcPts val="1100"/>
              </a:spcAft>
              <a:buNone/>
            </a:pPr>
            <a:r>
              <a:rPr lang="en-US" sz="1200" b="1" spc="-24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Roll Number:</a:t>
            </a:r>
            <a:pPr algn="l" indent="0" marL="0">
              <a:lnSpc>
                <a:spcPct val="121000"/>
              </a:lnSpc>
              <a:spcAft>
                <a:spcPts val="1100"/>
              </a:spcAft>
              <a:buNone/>
            </a:pPr>
            <a:r>
              <a:rPr lang="en-US" sz="1200" spc="-24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[Roll Number]</a:t>
            </a:r>
            <a:endParaRPr lang="en-US" sz="1200" dirty="0"/>
          </a:p>
          <a:p>
            <a:pPr algn="l" indent="0" marL="0">
              <a:lnSpc>
                <a:spcPct val="121000"/>
              </a:lnSpc>
              <a:spcAft>
                <a:spcPts val="1100"/>
              </a:spcAft>
              <a:buNone/>
            </a:pPr>
            <a:r>
              <a:rPr lang="en-US" sz="1200" b="1" spc="-24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Department:</a:t>
            </a:r>
            <a:pPr algn="l" indent="0" marL="0">
              <a:lnSpc>
                <a:spcPct val="121000"/>
              </a:lnSpc>
              <a:spcAft>
                <a:spcPts val="1100"/>
              </a:spcAft>
              <a:buNone/>
            </a:pPr>
            <a:r>
              <a:rPr lang="en-US" sz="1200" spc="-24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B.Tech CSE (AI &amp; ML)</a:t>
            </a:r>
            <a:endParaRPr lang="en-US" sz="1200" dirty="0"/>
          </a:p>
          <a:p>
            <a:pPr algn="l" indent="0" marL="0">
              <a:lnSpc>
                <a:spcPct val="121000"/>
              </a:lnSpc>
              <a:spcAft>
                <a:spcPts val="1100"/>
              </a:spcAft>
              <a:buNone/>
            </a:pPr>
            <a:r>
              <a:rPr lang="en-US" sz="1200" b="1" spc="-24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College:</a:t>
            </a:r>
            <a:pPr algn="l" indent="0" marL="0">
              <a:lnSpc>
                <a:spcPct val="121000"/>
              </a:lnSpc>
              <a:spcAft>
                <a:spcPts val="1100"/>
              </a:spcAft>
              <a:buNone/>
            </a:pPr>
            <a:r>
              <a:rPr lang="en-US" sz="1200" spc="-24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[College Name]</a:t>
            </a:r>
            <a:endParaRPr lang="en-US" sz="1200" dirty="0"/>
          </a:p>
          <a:p>
            <a:pPr algn="l" indent="0" marL="0">
              <a:lnSpc>
                <a:spcPct val="121000"/>
              </a:lnSpc>
              <a:buNone/>
            </a:pPr>
            <a:r>
              <a:rPr lang="en-US" sz="1200" b="1" spc="-24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Academic Year:</a:t>
            </a:r>
            <a:pPr algn="l" indent="0" marL="0">
              <a:lnSpc>
                <a:spcPct val="121000"/>
              </a:lnSpc>
              <a:buNone/>
            </a:pPr>
            <a:r>
              <a:rPr lang="en-US" sz="1200" spc="-24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2024-2025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2287984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b="1" spc="-112" kern="0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Introduction</a:t>
            </a:r>
            <a:endParaRPr lang="en-US" sz="3700" dirty="0"/>
          </a:p>
        </p:txBody>
      </p:sp>
      <p:sp>
        <p:nvSpPr>
          <p:cNvPr id="3" name="Text 1"/>
          <p:cNvSpPr/>
          <p:nvPr/>
        </p:nvSpPr>
        <p:spPr>
          <a:xfrm>
            <a:off x="661475" y="3162102"/>
            <a:ext cx="10868745" cy="14079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spc="-30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Driver fatigue and distraction are critical road-safety concerns</a:t>
            </a:r>
            <a:endParaRPr lang="en-US" sz="1450" dirty="0"/>
          </a:p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spc="-30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Computer vision enables continuous, non-intrusive driver monitoring</a:t>
            </a:r>
            <a:endParaRPr lang="en-US" sz="1450" dirty="0"/>
          </a:p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spc="-30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proposed system uses a webcam and AI/computer-vision techniques to identify unsafe driving conditions in real time</a:t>
            </a:r>
            <a:endParaRPr lang="en-US" sz="1450" dirty="0"/>
          </a:p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spc="-30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Combines facial landmark analysis, head-pose estimation, and object detection</a:t>
            </a:r>
            <a:endParaRPr lang="en-US" sz="14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52748"/>
            <a:ext cx="10868745" cy="4891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050" b="1" spc="-92" kern="0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Problem Statement</a:t>
            </a:r>
            <a:endParaRPr lang="en-US" sz="30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61475" y="1301155"/>
            <a:ext cx="5369584" cy="1581646"/>
          </a:xfrm>
          <a:prstGeom prst="rect">
            <a:avLst/>
          </a:prstGeom>
        </p:spPr>
      </p:pic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252359" y="1441946"/>
            <a:ext cx="187816" cy="187821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836988" y="1927225"/>
            <a:ext cx="5018557" cy="2445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00" b="1" spc="-46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Driver Drowsiness</a:t>
            </a:r>
            <a:endParaRPr lang="en-US" sz="1500" dirty="0"/>
          </a:p>
        </p:txBody>
      </p:sp>
      <p:sp>
        <p:nvSpPr>
          <p:cNvPr id="6" name="Text 2"/>
          <p:cNvSpPr/>
          <p:nvPr/>
        </p:nvSpPr>
        <p:spPr>
          <a:xfrm>
            <a:off x="836988" y="2249487"/>
            <a:ext cx="5018557" cy="4577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200" spc="-25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Prolonged eye closure and reduced alertness leading to impaired driving.</a:t>
            </a:r>
            <a:endParaRPr lang="en-US" sz="1200" dirty="0"/>
          </a:p>
        </p:txBody>
      </p:sp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160636" y="1301155"/>
            <a:ext cx="5369584" cy="1581646"/>
          </a:xfrm>
          <a:prstGeom prst="rect">
            <a:avLst/>
          </a:prstGeom>
        </p:spPr>
      </p:pic>
      <p:pic>
        <p:nvPicPr>
          <p:cNvPr id="8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8751520" y="1441946"/>
            <a:ext cx="187816" cy="187821"/>
          </a:xfrm>
          <a:prstGeom prst="rect">
            <a:avLst/>
          </a:prstGeom>
        </p:spPr>
      </p:pic>
      <p:sp>
        <p:nvSpPr>
          <p:cNvPr id="9" name="Text 3"/>
          <p:cNvSpPr/>
          <p:nvPr/>
        </p:nvSpPr>
        <p:spPr>
          <a:xfrm>
            <a:off x="6336149" y="1927225"/>
            <a:ext cx="5018557" cy="2445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00" b="1" spc="-46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Fatigue Indicators</a:t>
            </a:r>
            <a:endParaRPr lang="en-US" sz="1500" dirty="0"/>
          </a:p>
        </p:txBody>
      </p:sp>
      <p:sp>
        <p:nvSpPr>
          <p:cNvPr id="10" name="Text 4"/>
          <p:cNvSpPr/>
          <p:nvPr/>
        </p:nvSpPr>
        <p:spPr>
          <a:xfrm>
            <a:off x="6336149" y="2249487"/>
            <a:ext cx="5018557" cy="4577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200" spc="-25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Visible signs like yawning or excessive blinking that signal driver fatigue.</a:t>
            </a:r>
            <a:endParaRPr lang="en-US" sz="1200" dirty="0"/>
          </a:p>
        </p:txBody>
      </p:sp>
      <p:pic>
        <p:nvPicPr>
          <p:cNvPr id="11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661475" y="3012380"/>
            <a:ext cx="5369584" cy="1581646"/>
          </a:xfrm>
          <a:prstGeom prst="rect">
            <a:avLst/>
          </a:prstGeom>
        </p:spPr>
      </p:pic>
      <p:pic>
        <p:nvPicPr>
          <p:cNvPr id="12" name="Image 5" descr="preencoded.png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3252359" y="3153172"/>
            <a:ext cx="187816" cy="187821"/>
          </a:xfrm>
          <a:prstGeom prst="rect">
            <a:avLst/>
          </a:prstGeom>
        </p:spPr>
      </p:pic>
      <p:sp>
        <p:nvSpPr>
          <p:cNvPr id="13" name="Text 5"/>
          <p:cNvSpPr/>
          <p:nvPr/>
        </p:nvSpPr>
        <p:spPr>
          <a:xfrm>
            <a:off x="836988" y="3638451"/>
            <a:ext cx="5018557" cy="2445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00" b="1" spc="-46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Head Distraction</a:t>
            </a:r>
            <a:endParaRPr lang="en-US" sz="1500" dirty="0"/>
          </a:p>
        </p:txBody>
      </p:sp>
      <p:sp>
        <p:nvSpPr>
          <p:cNvPr id="14" name="Text 6"/>
          <p:cNvSpPr/>
          <p:nvPr/>
        </p:nvSpPr>
        <p:spPr>
          <a:xfrm>
            <a:off x="836988" y="3960713"/>
            <a:ext cx="5018557" cy="4577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200" spc="-25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Driver's gaze or head orientation is directed away from the road for extended periods.</a:t>
            </a:r>
            <a:endParaRPr lang="en-US" sz="1200" dirty="0"/>
          </a:p>
        </p:txBody>
      </p:sp>
      <p:pic>
        <p:nvPicPr>
          <p:cNvPr id="15" name="Image 6" descr="preencoded.png">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6160636" y="3012380"/>
            <a:ext cx="5369584" cy="1581646"/>
          </a:xfrm>
          <a:prstGeom prst="rect">
            <a:avLst/>
          </a:prstGeom>
        </p:spPr>
      </p:pic>
      <p:pic>
        <p:nvPicPr>
          <p:cNvPr id="16" name="Image 7" descr="preencoded.png">    </p:cNvPr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8751520" y="3153172"/>
            <a:ext cx="187816" cy="187821"/>
          </a:xfrm>
          <a:prstGeom prst="rect">
            <a:avLst/>
          </a:prstGeom>
        </p:spPr>
      </p:pic>
      <p:sp>
        <p:nvSpPr>
          <p:cNvPr id="17" name="Text 7"/>
          <p:cNvSpPr/>
          <p:nvPr/>
        </p:nvSpPr>
        <p:spPr>
          <a:xfrm>
            <a:off x="6336149" y="3638451"/>
            <a:ext cx="5018557" cy="2445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00" b="1" spc="-46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Excessive Head Movement</a:t>
            </a:r>
            <a:endParaRPr lang="en-US" sz="1500" dirty="0"/>
          </a:p>
        </p:txBody>
      </p:sp>
      <p:sp>
        <p:nvSpPr>
          <p:cNvPr id="18" name="Text 8"/>
          <p:cNvSpPr/>
          <p:nvPr/>
        </p:nvSpPr>
        <p:spPr>
          <a:xfrm>
            <a:off x="6336149" y="3960713"/>
            <a:ext cx="5018557" cy="4577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200" spc="-25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Frequent or jerky head movements (up/down, left/right) indicating inattention.</a:t>
            </a:r>
            <a:endParaRPr lang="en-US" sz="1200" dirty="0"/>
          </a:p>
        </p:txBody>
      </p:sp>
      <p:pic>
        <p:nvPicPr>
          <p:cNvPr id="19" name="Image 8" descr="preencoded.png">    </p:cNvPr>
          <p:cNvPicPr>
            <a:picLocks noChangeAspect="1"/>
          </p:cNvPicPr>
          <p:nvPr/>
        </p:nvPicPr>
        <p:blipFill>
          <a:blip r:embed="rId17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661475" y="4723606"/>
            <a:ext cx="5369584" cy="1581646"/>
          </a:xfrm>
          <a:prstGeom prst="rect">
            <a:avLst/>
          </a:prstGeom>
        </p:spPr>
      </p:pic>
      <p:pic>
        <p:nvPicPr>
          <p:cNvPr id="20" name="Image 9" descr="preencoded.png">    </p:cNvPr>
          <p:cNvPicPr>
            <a:picLocks noChangeAspect="1"/>
          </p:cNvPicPr>
          <p:nvPr/>
        </p:nvPicPr>
        <p:blipFill>
          <a:blip r:embed="rId19">
            <a:extLs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3252359" y="4864398"/>
            <a:ext cx="187816" cy="187821"/>
          </a:xfrm>
          <a:prstGeom prst="rect">
            <a:avLst/>
          </a:prstGeom>
        </p:spPr>
      </p:pic>
      <p:sp>
        <p:nvSpPr>
          <p:cNvPr id="21" name="Text 9"/>
          <p:cNvSpPr/>
          <p:nvPr/>
        </p:nvSpPr>
        <p:spPr>
          <a:xfrm>
            <a:off x="836988" y="5349677"/>
            <a:ext cx="5018557" cy="2445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00" b="1" spc="-46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Mobile Phone Usage</a:t>
            </a:r>
            <a:endParaRPr lang="en-US" sz="1500" dirty="0"/>
          </a:p>
        </p:txBody>
      </p:sp>
      <p:sp>
        <p:nvSpPr>
          <p:cNvPr id="22" name="Text 10"/>
          <p:cNvSpPr/>
          <p:nvPr/>
        </p:nvSpPr>
        <p:spPr>
          <a:xfrm>
            <a:off x="836988" y="5671939"/>
            <a:ext cx="5018557" cy="4577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200" spc="-25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Detection of phone handling or interaction while the vehicle is in motion.</a:t>
            </a:r>
            <a:endParaRPr lang="en-US" sz="1200" dirty="0"/>
          </a:p>
        </p:txBody>
      </p:sp>
      <p:pic>
        <p:nvPicPr>
          <p:cNvPr id="23" name="Image 10" descr="preencoded.png">    </p:cNvPr>
          <p:cNvPicPr>
            <a:picLocks noChangeAspect="1"/>
          </p:cNvPicPr>
          <p:nvPr/>
        </p:nvPicPr>
        <p:blipFill>
          <a:blip r:embed="rId21">
            <a:extLst>
              <a:ext uri="{96DAC541-7B7A-43D3-8B79-37D633B846F1}">
                <asvg:svgBlip xmlns:asvg="http://schemas.microsoft.com/office/drawing/2016/SVG/main" r:embed="rId22"/>
              </a:ext>
            </a:extLst>
          </a:blip>
          <a:stretch>
            <a:fillRect/>
          </a:stretch>
        </p:blipFill>
        <p:spPr>
          <a:xfrm>
            <a:off x="6160636" y="4723606"/>
            <a:ext cx="5369584" cy="1581646"/>
          </a:xfrm>
          <a:prstGeom prst="rect">
            <a:avLst/>
          </a:prstGeom>
        </p:spPr>
      </p:pic>
      <p:pic>
        <p:nvPicPr>
          <p:cNvPr id="24" name="Image 11" descr="preencoded.png">    </p:cNvPr>
          <p:cNvPicPr>
            <a:picLocks noChangeAspect="1"/>
          </p:cNvPicPr>
          <p:nvPr/>
        </p:nvPicPr>
        <p:blipFill>
          <a:blip r:embed="rId23">
            <a:extLst>
              <a:ext uri="{96DAC541-7B7A-43D3-8B79-37D633B846F1}">
                <asvg:svgBlip xmlns:asvg="http://schemas.microsoft.com/office/drawing/2016/SVG/main" r:embed="rId24"/>
              </a:ext>
            </a:extLst>
          </a:blip>
          <a:stretch>
            <a:fillRect/>
          </a:stretch>
        </p:blipFill>
        <p:spPr>
          <a:xfrm>
            <a:off x="8751520" y="4864398"/>
            <a:ext cx="187816" cy="187821"/>
          </a:xfrm>
          <a:prstGeom prst="rect">
            <a:avLst/>
          </a:prstGeom>
        </p:spPr>
      </p:pic>
      <p:sp>
        <p:nvSpPr>
          <p:cNvPr id="25" name="Text 11"/>
          <p:cNvSpPr/>
          <p:nvPr/>
        </p:nvSpPr>
        <p:spPr>
          <a:xfrm>
            <a:off x="6336149" y="5349677"/>
            <a:ext cx="5018557" cy="2445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00" b="1" spc="-46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Delayed Response</a:t>
            </a:r>
            <a:endParaRPr lang="en-US" sz="1500" dirty="0"/>
          </a:p>
        </p:txBody>
      </p:sp>
      <p:sp>
        <p:nvSpPr>
          <p:cNvPr id="26" name="Text 12"/>
          <p:cNvSpPr/>
          <p:nvPr/>
        </p:nvSpPr>
        <p:spPr>
          <a:xfrm>
            <a:off x="6336149" y="5671939"/>
            <a:ext cx="5018557" cy="4577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200" spc="-25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Slower than normal human reaction times to critical road events or hazards.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67730"/>
            <a:ext cx="10868745" cy="5721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600" b="1" spc="-108" kern="0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Objectives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661475" y="1494631"/>
            <a:ext cx="366207" cy="22879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00" spc="-43" kern="0" dirty="0">
                <a:solidFill>
                  <a:srgbClr val="272525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01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61475" y="1780381"/>
            <a:ext cx="5345673" cy="25400"/>
          </a:xfrm>
          <a:prstGeom prst="rect">
            <a:avLst/>
          </a:prstGeom>
          <a:solidFill>
            <a:srgbClr val="4950BC"/>
          </a:solidFill>
          <a:ln/>
        </p:spPr>
      </p:sp>
      <p:sp>
        <p:nvSpPr>
          <p:cNvPr id="5" name="Text 3"/>
          <p:cNvSpPr/>
          <p:nvPr/>
        </p:nvSpPr>
        <p:spPr>
          <a:xfrm>
            <a:off x="661475" y="1922661"/>
            <a:ext cx="5345673" cy="5720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00" b="1" spc="-54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Monitor driver behavior in real time using a webcam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6184448" y="1494631"/>
            <a:ext cx="366207" cy="22879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00" spc="-43" kern="0" dirty="0">
                <a:solidFill>
                  <a:srgbClr val="272525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02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184448" y="1780381"/>
            <a:ext cx="5345773" cy="25400"/>
          </a:xfrm>
          <a:prstGeom prst="rect">
            <a:avLst/>
          </a:prstGeom>
          <a:solidFill>
            <a:srgbClr val="4950BC"/>
          </a:solidFill>
          <a:ln/>
        </p:spPr>
      </p:sp>
      <p:sp>
        <p:nvSpPr>
          <p:cNvPr id="8" name="Text 6"/>
          <p:cNvSpPr/>
          <p:nvPr/>
        </p:nvSpPr>
        <p:spPr>
          <a:xfrm>
            <a:off x="6184448" y="1922661"/>
            <a:ext cx="5345773" cy="5720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00" b="1" spc="-54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Detect prolonged eye closure and drowsiness using Eye Aspect Ratio (EAR)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61475" y="2809379"/>
            <a:ext cx="366207" cy="22879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00" spc="-43" kern="0" dirty="0">
                <a:solidFill>
                  <a:srgbClr val="272525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03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61475" y="3095129"/>
            <a:ext cx="5345673" cy="25400"/>
          </a:xfrm>
          <a:prstGeom prst="rect">
            <a:avLst/>
          </a:prstGeom>
          <a:solidFill>
            <a:srgbClr val="4950BC"/>
          </a:solidFill>
          <a:ln/>
        </p:spPr>
      </p:sp>
      <p:sp>
        <p:nvSpPr>
          <p:cNvPr id="11" name="Text 9"/>
          <p:cNvSpPr/>
          <p:nvPr/>
        </p:nvSpPr>
        <p:spPr>
          <a:xfrm>
            <a:off x="661475" y="3237409"/>
            <a:ext cx="5345673" cy="2860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00" b="1" spc="-54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Detect yawning using Mouth Aspect Ratio (MAR)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6184448" y="2809379"/>
            <a:ext cx="366207" cy="22879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00" spc="-43" kern="0" dirty="0">
                <a:solidFill>
                  <a:srgbClr val="272525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04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184448" y="3095129"/>
            <a:ext cx="5345773" cy="25400"/>
          </a:xfrm>
          <a:prstGeom prst="rect">
            <a:avLst/>
          </a:prstGeom>
          <a:solidFill>
            <a:srgbClr val="4950BC"/>
          </a:solidFill>
          <a:ln/>
        </p:spPr>
      </p:sp>
      <p:sp>
        <p:nvSpPr>
          <p:cNvPr id="14" name="Text 12"/>
          <p:cNvSpPr/>
          <p:nvPr/>
        </p:nvSpPr>
        <p:spPr>
          <a:xfrm>
            <a:off x="6184448" y="3237409"/>
            <a:ext cx="5345773" cy="5720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00" b="1" spc="-54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Detect head movement and distraction using head-pose estimation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661475" y="4124127"/>
            <a:ext cx="366207" cy="22879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00" spc="-43" kern="0" dirty="0">
                <a:solidFill>
                  <a:srgbClr val="272525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05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661475" y="4409877"/>
            <a:ext cx="5345673" cy="25400"/>
          </a:xfrm>
          <a:prstGeom prst="rect">
            <a:avLst/>
          </a:prstGeom>
          <a:solidFill>
            <a:srgbClr val="4950BC"/>
          </a:solidFill>
          <a:ln/>
        </p:spPr>
      </p:sp>
      <p:sp>
        <p:nvSpPr>
          <p:cNvPr id="17" name="Text 15"/>
          <p:cNvSpPr/>
          <p:nvPr/>
        </p:nvSpPr>
        <p:spPr>
          <a:xfrm>
            <a:off x="661475" y="4552156"/>
            <a:ext cx="5345673" cy="5720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00" b="1" spc="-54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Detect mobile phone usage using YOLO11n object detection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6184448" y="4124127"/>
            <a:ext cx="366207" cy="22879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00" spc="-43" kern="0" dirty="0">
                <a:solidFill>
                  <a:srgbClr val="272525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06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6184448" y="4409877"/>
            <a:ext cx="5345773" cy="25400"/>
          </a:xfrm>
          <a:prstGeom prst="rect">
            <a:avLst/>
          </a:prstGeom>
          <a:solidFill>
            <a:srgbClr val="4950BC"/>
          </a:solidFill>
          <a:ln/>
        </p:spPr>
      </p:sp>
      <p:sp>
        <p:nvSpPr>
          <p:cNvPr id="20" name="Text 18"/>
          <p:cNvSpPr/>
          <p:nvPr/>
        </p:nvSpPr>
        <p:spPr>
          <a:xfrm>
            <a:off x="6184448" y="4552156"/>
            <a:ext cx="5345773" cy="5720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00" b="1" spc="-54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Generate immediate voice alerts for unsafe conditions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661475" y="5438874"/>
            <a:ext cx="366207" cy="22879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00" spc="-43" kern="0" dirty="0">
                <a:solidFill>
                  <a:srgbClr val="272525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07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661475" y="5724624"/>
            <a:ext cx="5345673" cy="25400"/>
          </a:xfrm>
          <a:prstGeom prst="rect">
            <a:avLst/>
          </a:prstGeom>
          <a:solidFill>
            <a:srgbClr val="4950BC"/>
          </a:solidFill>
          <a:ln/>
        </p:spPr>
      </p:sp>
      <p:sp>
        <p:nvSpPr>
          <p:cNvPr id="23" name="Text 21"/>
          <p:cNvSpPr/>
          <p:nvPr/>
        </p:nvSpPr>
        <p:spPr>
          <a:xfrm>
            <a:off x="661475" y="5866904"/>
            <a:ext cx="5345673" cy="2860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00" b="1" spc="-54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Maintain comprehensive event history and logging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6184448" y="5438874"/>
            <a:ext cx="366207" cy="22879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00" spc="-43" kern="0" dirty="0">
                <a:solidFill>
                  <a:srgbClr val="272525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08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6184448" y="5724624"/>
            <a:ext cx="5345773" cy="25400"/>
          </a:xfrm>
          <a:prstGeom prst="rect">
            <a:avLst/>
          </a:prstGeom>
          <a:solidFill>
            <a:srgbClr val="4950BC"/>
          </a:solidFill>
          <a:ln/>
        </p:spPr>
      </p:sp>
      <p:sp>
        <p:nvSpPr>
          <p:cNvPr id="26" name="Text 24"/>
          <p:cNvSpPr/>
          <p:nvPr/>
        </p:nvSpPr>
        <p:spPr>
          <a:xfrm>
            <a:off x="6184448" y="5866904"/>
            <a:ext cx="5345773" cy="2860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00" b="1" spc="-54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Calculate and display driver safety score</a:t>
            </a:r>
            <a:endParaRPr lang="en-US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620514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b="1" spc="-112" kern="0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Proposed System Architecture</a:t>
            </a:r>
            <a:endParaRPr lang="en-US" sz="37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6221" y="1589187"/>
            <a:ext cx="10779153" cy="4648299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31583" y="5355994"/>
            <a:ext cx="2445408" cy="3056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900" b="1" spc="-58" kern="0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Event Classification</a:t>
            </a:r>
            <a:endParaRPr lang="en-US" sz="1900" dirty="0"/>
          </a:p>
        </p:txBody>
      </p:sp>
      <p:sp>
        <p:nvSpPr>
          <p:cNvPr id="5" name="Text 2"/>
          <p:cNvSpPr/>
          <p:nvPr/>
        </p:nvSpPr>
        <p:spPr>
          <a:xfrm>
            <a:off x="1431583" y="4279988"/>
            <a:ext cx="2445408" cy="3056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900" b="1" spc="-58" kern="0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Face Detection</a:t>
            </a:r>
            <a:endParaRPr lang="en-US" sz="1900" dirty="0"/>
          </a:p>
        </p:txBody>
      </p:sp>
      <p:sp>
        <p:nvSpPr>
          <p:cNvPr id="6" name="Text 3"/>
          <p:cNvSpPr/>
          <p:nvPr/>
        </p:nvSpPr>
        <p:spPr>
          <a:xfrm>
            <a:off x="1431583" y="3214851"/>
            <a:ext cx="2450502" cy="3056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900" b="1" spc="-58" kern="0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Capture &amp; Preprocess</a:t>
            </a:r>
            <a:endParaRPr lang="en-US" sz="1900" dirty="0"/>
          </a:p>
        </p:txBody>
      </p:sp>
      <p:sp>
        <p:nvSpPr>
          <p:cNvPr id="7" name="Text 4"/>
          <p:cNvSpPr/>
          <p:nvPr/>
        </p:nvSpPr>
        <p:spPr>
          <a:xfrm>
            <a:off x="1431583" y="2138845"/>
            <a:ext cx="2445408" cy="3056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900" b="1" spc="-58" kern="0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Webcam Input</a:t>
            </a:r>
            <a:endParaRPr lang="en-US" sz="1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743942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b="1" spc="-112" kern="0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Technologies Used</a:t>
            </a:r>
            <a:endParaRPr lang="en-US" sz="37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61475" y="1712615"/>
            <a:ext cx="472468" cy="4724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70177" y="1712615"/>
            <a:ext cx="2756724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b="1" spc="-56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Python</a:t>
            </a:r>
            <a:endParaRPr lang="en-US" sz="1850" dirty="0"/>
          </a:p>
        </p:txBody>
      </p:sp>
      <p:sp>
        <p:nvSpPr>
          <p:cNvPr id="5" name="Text 2"/>
          <p:cNvSpPr/>
          <p:nvPr/>
        </p:nvSpPr>
        <p:spPr>
          <a:xfrm>
            <a:off x="1370177" y="2121297"/>
            <a:ext cx="2756724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spc="-30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Core programming language for the entire system</a:t>
            </a:r>
            <a:endParaRPr lang="en-US" sz="145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363135" y="1712615"/>
            <a:ext cx="472468" cy="47248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5071836" y="1712615"/>
            <a:ext cx="2756724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b="1" spc="-56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OpenCV</a:t>
            </a:r>
            <a:endParaRPr lang="en-US" sz="1850" dirty="0"/>
          </a:p>
        </p:txBody>
      </p:sp>
      <p:sp>
        <p:nvSpPr>
          <p:cNvPr id="8" name="Text 4"/>
          <p:cNvSpPr/>
          <p:nvPr/>
        </p:nvSpPr>
        <p:spPr>
          <a:xfrm>
            <a:off x="5071836" y="2121297"/>
            <a:ext cx="2756724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spc="-30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Real-time computer vision processing and dashboard rendering</a:t>
            </a:r>
            <a:endParaRPr lang="en-US" sz="145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064794" y="1712615"/>
            <a:ext cx="472468" cy="47248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8773496" y="1712615"/>
            <a:ext cx="2756724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b="1" spc="-56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MediaPipe Face Landmarker</a:t>
            </a:r>
            <a:endParaRPr lang="en-US" sz="1850" dirty="0"/>
          </a:p>
        </p:txBody>
      </p:sp>
      <p:sp>
        <p:nvSpPr>
          <p:cNvPr id="11" name="Text 6"/>
          <p:cNvSpPr/>
          <p:nvPr/>
        </p:nvSpPr>
        <p:spPr>
          <a:xfrm>
            <a:off x="8773496" y="2416572"/>
            <a:ext cx="2756724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spc="-30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Facial landmark detection and face mesh extraction</a:t>
            </a:r>
            <a:endParaRPr lang="en-US" sz="1450" dirty="0"/>
          </a:p>
        </p:txBody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61475" y="3406577"/>
            <a:ext cx="472468" cy="472480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1370177" y="3406577"/>
            <a:ext cx="2756724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b="1" spc="-56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NumPy</a:t>
            </a:r>
            <a:endParaRPr lang="en-US" sz="1850" dirty="0"/>
          </a:p>
        </p:txBody>
      </p:sp>
      <p:sp>
        <p:nvSpPr>
          <p:cNvPr id="14" name="Text 8"/>
          <p:cNvSpPr/>
          <p:nvPr/>
        </p:nvSpPr>
        <p:spPr>
          <a:xfrm>
            <a:off x="1370177" y="3815259"/>
            <a:ext cx="2756724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spc="-30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Numerical computations for EAR, MAR, and head-pose calculations</a:t>
            </a:r>
            <a:endParaRPr lang="en-US" sz="1450" dirty="0"/>
          </a:p>
        </p:txBody>
      </p:sp>
      <p:pic>
        <p:nvPicPr>
          <p:cNvPr id="15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4363135" y="3406577"/>
            <a:ext cx="472468" cy="472480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5071836" y="3406577"/>
            <a:ext cx="2756724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b="1" spc="-56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YOLO11n</a:t>
            </a:r>
            <a:endParaRPr lang="en-US" sz="1850" dirty="0"/>
          </a:p>
        </p:txBody>
      </p:sp>
      <p:sp>
        <p:nvSpPr>
          <p:cNvPr id="17" name="Text 10"/>
          <p:cNvSpPr/>
          <p:nvPr/>
        </p:nvSpPr>
        <p:spPr>
          <a:xfrm>
            <a:off x="5071836" y="3815259"/>
            <a:ext cx="2756724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spc="-30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Lightweight object detection for mobile phone detection</a:t>
            </a:r>
            <a:endParaRPr lang="en-US" sz="1450" dirty="0"/>
          </a:p>
        </p:txBody>
      </p:sp>
      <p:pic>
        <p:nvPicPr>
          <p:cNvPr id="18" name="Image 5" descr="preencoded.png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8064794" y="3406577"/>
            <a:ext cx="472468" cy="472480"/>
          </a:xfrm>
          <a:prstGeom prst="rect">
            <a:avLst/>
          </a:prstGeom>
        </p:spPr>
      </p:pic>
      <p:sp>
        <p:nvSpPr>
          <p:cNvPr id="19" name="Text 11"/>
          <p:cNvSpPr/>
          <p:nvPr/>
        </p:nvSpPr>
        <p:spPr>
          <a:xfrm>
            <a:off x="8773496" y="3406577"/>
            <a:ext cx="2756724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b="1" spc="-56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Ultralytics</a:t>
            </a:r>
            <a:endParaRPr lang="en-US" sz="1850" dirty="0"/>
          </a:p>
        </p:txBody>
      </p:sp>
      <p:sp>
        <p:nvSpPr>
          <p:cNvPr id="20" name="Text 12"/>
          <p:cNvSpPr/>
          <p:nvPr/>
        </p:nvSpPr>
        <p:spPr>
          <a:xfrm>
            <a:off x="8773496" y="3815259"/>
            <a:ext cx="2756724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spc="-30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YOLO model framework and utilities</a:t>
            </a:r>
            <a:endParaRPr lang="en-US" sz="1450" dirty="0"/>
          </a:p>
        </p:txBody>
      </p:sp>
      <p:pic>
        <p:nvPicPr>
          <p:cNvPr id="21" name="Image 6" descr="preencoded.png">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661475" y="5100538"/>
            <a:ext cx="472468" cy="472480"/>
          </a:xfrm>
          <a:prstGeom prst="rect">
            <a:avLst/>
          </a:prstGeom>
        </p:spPr>
      </p:pic>
      <p:sp>
        <p:nvSpPr>
          <p:cNvPr id="22" name="Text 13"/>
          <p:cNvSpPr/>
          <p:nvPr/>
        </p:nvSpPr>
        <p:spPr>
          <a:xfrm>
            <a:off x="1370177" y="5100538"/>
            <a:ext cx="2756724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b="1" spc="-56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Pygame</a:t>
            </a:r>
            <a:endParaRPr lang="en-US" sz="1850" dirty="0"/>
          </a:p>
        </p:txBody>
      </p:sp>
      <p:sp>
        <p:nvSpPr>
          <p:cNvPr id="23" name="Text 14"/>
          <p:cNvSpPr/>
          <p:nvPr/>
        </p:nvSpPr>
        <p:spPr>
          <a:xfrm>
            <a:off x="1370177" y="5509220"/>
            <a:ext cx="2756724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spc="-30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Real-time dashboard and visualization interface</a:t>
            </a:r>
            <a:endParaRPr lang="en-US" sz="1450" dirty="0"/>
          </a:p>
        </p:txBody>
      </p:sp>
      <p:pic>
        <p:nvPicPr>
          <p:cNvPr id="24" name="Image 7" descr="preencoded.png">    </p:cNvPr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4363135" y="5100538"/>
            <a:ext cx="472468" cy="472480"/>
          </a:xfrm>
          <a:prstGeom prst="rect">
            <a:avLst/>
          </a:prstGeom>
        </p:spPr>
      </p:pic>
      <p:sp>
        <p:nvSpPr>
          <p:cNvPr id="25" name="Text 15"/>
          <p:cNvSpPr/>
          <p:nvPr/>
        </p:nvSpPr>
        <p:spPr>
          <a:xfrm>
            <a:off x="5071836" y="5100538"/>
            <a:ext cx="2756724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b="1" spc="-56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Pyttsx3</a:t>
            </a:r>
            <a:endParaRPr lang="en-US" sz="1850" dirty="0"/>
          </a:p>
        </p:txBody>
      </p:sp>
      <p:sp>
        <p:nvSpPr>
          <p:cNvPr id="26" name="Text 16"/>
          <p:cNvSpPr/>
          <p:nvPr/>
        </p:nvSpPr>
        <p:spPr>
          <a:xfrm>
            <a:off x="5071836" y="5509220"/>
            <a:ext cx="2756724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spc="-30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Text-to-speech voice alert generation</a:t>
            </a:r>
            <a:endParaRPr lang="en-US" sz="1450" dirty="0"/>
          </a:p>
        </p:txBody>
      </p:sp>
      <p:pic>
        <p:nvPicPr>
          <p:cNvPr id="27" name="Image 8" descr="preencoded.png">    </p:cNvPr>
          <p:cNvPicPr>
            <a:picLocks noChangeAspect="1"/>
          </p:cNvPicPr>
          <p:nvPr/>
        </p:nvPicPr>
        <p:blipFill>
          <a:blip r:embed="rId17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8064794" y="5100538"/>
            <a:ext cx="472468" cy="472480"/>
          </a:xfrm>
          <a:prstGeom prst="rect">
            <a:avLst/>
          </a:prstGeom>
        </p:spPr>
      </p:pic>
      <p:sp>
        <p:nvSpPr>
          <p:cNvPr id="28" name="Text 17"/>
          <p:cNvSpPr/>
          <p:nvPr/>
        </p:nvSpPr>
        <p:spPr>
          <a:xfrm>
            <a:off x="8773496" y="5100538"/>
            <a:ext cx="2756724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b="1" spc="-56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CSV</a:t>
            </a:r>
            <a:endParaRPr lang="en-US" sz="1850" dirty="0"/>
          </a:p>
        </p:txBody>
      </p:sp>
      <p:sp>
        <p:nvSpPr>
          <p:cNvPr id="29" name="Text 18"/>
          <p:cNvSpPr/>
          <p:nvPr/>
        </p:nvSpPr>
        <p:spPr>
          <a:xfrm>
            <a:off x="8773496" y="5509220"/>
            <a:ext cx="2756724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spc="-30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Event logging and data persistence</a:t>
            </a:r>
            <a:endParaRPr lang="en-US" sz="14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20700"/>
            <a:ext cx="10868745" cy="5445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400" b="1" spc="-103" kern="0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Drowsiness Detection Using Eye Aspect Ratio (EAR)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661475" y="1129407"/>
            <a:ext cx="10868745" cy="2721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00" b="1" spc="-51" kern="0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Methodology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661475" y="1642467"/>
            <a:ext cx="10868745" cy="9156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74320" indent="-274320">
              <a:lnSpc>
                <a:spcPct val="128000"/>
              </a:lnSpc>
              <a:buSzPct val="100000"/>
              <a:buChar char="•"/>
            </a:pPr>
            <a:r>
              <a:rPr lang="en-US" sz="1350" spc="-27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MediaPipe Face Landmarker extracts 468 facial landmarks</a:t>
            </a:r>
            <a:endParaRPr lang="en-US" sz="1350" dirty="0"/>
          </a:p>
          <a:p>
            <a:pPr algn="l" marL="274320" indent="-274320">
              <a:lnSpc>
                <a:spcPct val="128000"/>
              </a:lnSpc>
              <a:buSzPct val="100000"/>
              <a:buChar char="•"/>
            </a:pPr>
            <a:r>
              <a:rPr lang="en-US" sz="1350" spc="-27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Eye landmarks (6 points per eye) are identified</a:t>
            </a:r>
            <a:endParaRPr lang="en-US" sz="1350" dirty="0"/>
          </a:p>
          <a:p>
            <a:pPr algn="l" marL="274320" indent="-274320">
              <a:lnSpc>
                <a:spcPct val="128000"/>
              </a:lnSpc>
              <a:buSzPct val="100000"/>
              <a:buChar char="•"/>
            </a:pPr>
            <a:r>
              <a:rPr lang="en-US" sz="1350" spc="-27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Eye Aspect Ratio (EAR) is calculated using vertical and horizontal eye distances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661475" y="2799060"/>
            <a:ext cx="10868745" cy="2721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00" b="1" spc="-51" kern="0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Formula</a:t>
            </a:r>
            <a:endParaRPr lang="en-US" sz="17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1475" y="3312120"/>
            <a:ext cx="10868745" cy="560487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61475" y="4075906"/>
            <a:ext cx="11478330" cy="2677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350" spc="-27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Where p1-p6 are the eye landmark coordinates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661475" y="4584601"/>
            <a:ext cx="10868745" cy="2721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00" b="1" spc="-51" kern="0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Detection Logic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661475" y="5097661"/>
            <a:ext cx="10868745" cy="123963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74320" indent="-274320">
              <a:lnSpc>
                <a:spcPct val="128000"/>
              </a:lnSpc>
              <a:buSzPct val="100000"/>
              <a:buChar char="•"/>
            </a:pPr>
            <a:r>
              <a:rPr lang="en-US" sz="1350" spc="-27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Normal eye: EAR ≈ 0.3-0.4 (open)</a:t>
            </a:r>
            <a:endParaRPr lang="en-US" sz="1350" dirty="0"/>
          </a:p>
          <a:p>
            <a:pPr algn="l" marL="274320" indent="-274320">
              <a:lnSpc>
                <a:spcPct val="128000"/>
              </a:lnSpc>
              <a:buSzPct val="100000"/>
              <a:buChar char="•"/>
            </a:pPr>
            <a:r>
              <a:rPr lang="en-US" sz="1350" spc="-27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Closed eye: EAR &lt; 0.22 (threshold)</a:t>
            </a:r>
            <a:endParaRPr lang="en-US" sz="1350" dirty="0"/>
          </a:p>
          <a:p>
            <a:pPr algn="l" marL="274320" indent="-274320">
              <a:lnSpc>
                <a:spcPct val="128000"/>
              </a:lnSpc>
              <a:buSzPct val="100000"/>
              <a:buChar char="•"/>
            </a:pPr>
            <a:r>
              <a:rPr lang="en-US" sz="1350" spc="-27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If EAR &lt; 0.22 for ≥ 2.0 seconds → Drowsiness detected</a:t>
            </a:r>
            <a:endParaRPr lang="en-US" sz="1350" dirty="0"/>
          </a:p>
          <a:p>
            <a:pPr algn="l" marL="274320" indent="-274320">
              <a:lnSpc>
                <a:spcPct val="128000"/>
              </a:lnSpc>
              <a:buSzPct val="100000"/>
              <a:buChar char="•"/>
            </a:pPr>
            <a:r>
              <a:rPr lang="en-US" sz="1350" spc="-27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Voice alert: "Wake up! Please keep your eyes open."</a:t>
            </a:r>
            <a:endParaRPr lang="en-US" sz="13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20700"/>
            <a:ext cx="10868745" cy="5445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400" b="1" spc="-103" kern="0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Yawning Detection Using Mouth Aspect Ratio (MAR)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661475" y="1129407"/>
            <a:ext cx="10868745" cy="2721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00" b="1" spc="-51" kern="0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Methodology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661475" y="1642467"/>
            <a:ext cx="10868745" cy="9156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74320" indent="-274320">
              <a:lnSpc>
                <a:spcPct val="128000"/>
              </a:lnSpc>
              <a:buSzPct val="100000"/>
              <a:buChar char="•"/>
            </a:pPr>
            <a:r>
              <a:rPr lang="en-US" sz="1350" spc="-27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Mouth landmarks (20 points) are extracted from the face mesh</a:t>
            </a:r>
            <a:endParaRPr lang="en-US" sz="1350" dirty="0"/>
          </a:p>
          <a:p>
            <a:pPr algn="l" marL="274320" indent="-274320">
              <a:lnSpc>
                <a:spcPct val="128000"/>
              </a:lnSpc>
              <a:buSzPct val="100000"/>
              <a:buChar char="•"/>
            </a:pPr>
            <a:r>
              <a:rPr lang="en-US" sz="1350" spc="-27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Mouth Aspect Ratio (MAR) is calculated using vertical and horizontal mouth distances</a:t>
            </a:r>
            <a:endParaRPr lang="en-US" sz="1350" dirty="0"/>
          </a:p>
          <a:p>
            <a:pPr algn="l" marL="274320" indent="-274320">
              <a:lnSpc>
                <a:spcPct val="128000"/>
              </a:lnSpc>
              <a:buSzPct val="100000"/>
              <a:buChar char="•"/>
            </a:pPr>
            <a:r>
              <a:rPr lang="en-US" sz="1350" spc="-27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Yawning is detected when mouth opens significantly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661475" y="2799060"/>
            <a:ext cx="10868745" cy="2721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00" b="1" spc="-51" kern="0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Formula</a:t>
            </a:r>
            <a:endParaRPr lang="en-US" sz="17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1475" y="3312120"/>
            <a:ext cx="10868745" cy="560487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61475" y="4075906"/>
            <a:ext cx="11478330" cy="2677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350" spc="-27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Where p1-p8 are the mouth landmark coordinates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661475" y="4584601"/>
            <a:ext cx="10868745" cy="2721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00" b="1" spc="-51" kern="0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Detection Logic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661475" y="5097661"/>
            <a:ext cx="10868745" cy="123963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74320" indent="-274320">
              <a:lnSpc>
                <a:spcPct val="128000"/>
              </a:lnSpc>
              <a:buSzPct val="100000"/>
              <a:buChar char="•"/>
            </a:pPr>
            <a:r>
              <a:rPr lang="en-US" sz="1350" spc="-27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Normal mouth: MAR ≈ 0.1-0.2 (closed)</a:t>
            </a:r>
            <a:endParaRPr lang="en-US" sz="1350" dirty="0"/>
          </a:p>
          <a:p>
            <a:pPr algn="l" marL="274320" indent="-274320">
              <a:lnSpc>
                <a:spcPct val="128000"/>
              </a:lnSpc>
              <a:buSzPct val="100000"/>
              <a:buChar char="•"/>
            </a:pPr>
            <a:r>
              <a:rPr lang="en-US" sz="1350" spc="-27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Open mouth: MAR &gt; 0.40 (threshold)</a:t>
            </a:r>
            <a:endParaRPr lang="en-US" sz="1350" dirty="0"/>
          </a:p>
          <a:p>
            <a:pPr algn="l" marL="274320" indent="-274320">
              <a:lnSpc>
                <a:spcPct val="128000"/>
              </a:lnSpc>
              <a:buSzPct val="100000"/>
              <a:buChar char="•"/>
            </a:pPr>
            <a:r>
              <a:rPr lang="en-US" sz="1350" spc="-27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If MAR &gt; 0.40 for ≥ 1.0 second → Yawning detected</a:t>
            </a:r>
            <a:endParaRPr lang="en-US" sz="1350" dirty="0"/>
          </a:p>
          <a:p>
            <a:pPr algn="l" marL="274320" indent="-274320">
              <a:lnSpc>
                <a:spcPct val="128000"/>
              </a:lnSpc>
              <a:buSzPct val="100000"/>
              <a:buChar char="•"/>
            </a:pPr>
            <a:r>
              <a:rPr lang="en-US" sz="1350" spc="-27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Voice alert: "You appear tired. Please stay alert."</a:t>
            </a:r>
            <a:endParaRPr lang="en-US" sz="13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19807"/>
            <a:ext cx="10868745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b="1" spc="-56" kern="0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Head Pose and Distraction Detection</a:t>
            </a:r>
            <a:endParaRPr lang="en-US" sz="1850" dirty="0"/>
          </a:p>
        </p:txBody>
      </p:sp>
      <p:sp>
        <p:nvSpPr>
          <p:cNvPr id="3" name="Text 1"/>
          <p:cNvSpPr/>
          <p:nvPr/>
        </p:nvSpPr>
        <p:spPr>
          <a:xfrm>
            <a:off x="661475" y="833934"/>
            <a:ext cx="10868745" cy="1476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00" b="1" spc="-28" kern="0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Methodology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661475" y="1052413"/>
            <a:ext cx="10868745" cy="50303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42240" indent="-142240">
              <a:lnSpc>
                <a:spcPct val="100000"/>
              </a:lnSpc>
              <a:buSzPct val="100000"/>
              <a:buChar char="•"/>
            </a:pPr>
            <a:r>
              <a:rPr lang="en-US" sz="700" spc="-15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Facial landmarks are used as 2D image points</a:t>
            </a:r>
            <a:endParaRPr lang="en-US" sz="700" dirty="0"/>
          </a:p>
          <a:p>
            <a:pPr algn="l" marL="142240" indent="-142240">
              <a:lnSpc>
                <a:spcPct val="100000"/>
              </a:lnSpc>
              <a:buSzPct val="100000"/>
              <a:buChar char="•"/>
            </a:pPr>
            <a:r>
              <a:rPr lang="en-US" sz="700" spc="-15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3D face model (68-point or similar) is used as reference</a:t>
            </a:r>
            <a:endParaRPr lang="en-US" sz="700" dirty="0"/>
          </a:p>
          <a:p>
            <a:pPr algn="l" marL="142240" indent="-142240">
              <a:lnSpc>
                <a:spcPct val="100000"/>
              </a:lnSpc>
              <a:buSzPct val="100000"/>
              <a:buChar char="•"/>
            </a:pPr>
            <a:r>
              <a:rPr lang="en-US" sz="700" spc="-15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OpenCV solvePnP estimates head orientation in 3D space</a:t>
            </a:r>
            <a:endParaRPr lang="en-US" sz="700" dirty="0"/>
          </a:p>
          <a:p>
            <a:pPr algn="l" marL="142240" indent="-142240">
              <a:lnSpc>
                <a:spcPct val="100000"/>
              </a:lnSpc>
              <a:buSzPct val="100000"/>
              <a:buChar char="•"/>
            </a:pPr>
            <a:r>
              <a:rPr lang="en-US" sz="700" spc="-15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Yaw (left-right), Pitch (up-down), and Roll (tilt) angles are calculated</a:t>
            </a:r>
            <a:endParaRPr lang="en-US" sz="700" dirty="0"/>
          </a:p>
        </p:txBody>
      </p:sp>
      <p:sp>
        <p:nvSpPr>
          <p:cNvPr id="5" name="Text 3"/>
          <p:cNvSpPr/>
          <p:nvPr/>
        </p:nvSpPr>
        <p:spPr>
          <a:xfrm>
            <a:off x="661475" y="1626295"/>
            <a:ext cx="10868745" cy="1476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00" b="1" spc="-28" kern="0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Head Pose Angles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661475" y="1844774"/>
            <a:ext cx="10868745" cy="37316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42240" indent="-142240">
              <a:lnSpc>
                <a:spcPct val="100000"/>
              </a:lnSpc>
              <a:buSzPct val="100000"/>
              <a:buChar char="•"/>
            </a:pPr>
            <a:r>
              <a:rPr lang="en-US" sz="700" b="1" spc="-15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Yaw:</a:t>
            </a:r>
            <a:pPr algn="l" marL="142240" indent="-142240">
              <a:lnSpc>
                <a:spcPct val="100000"/>
              </a:lnSpc>
              <a:buSzPct val="100000"/>
              <a:buChar char="•"/>
            </a:pPr>
            <a:r>
              <a:rPr lang="en-US" sz="700" spc="-15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Horizontal head rotation (left/right)</a:t>
            </a:r>
            <a:endParaRPr lang="en-US" sz="700" dirty="0"/>
          </a:p>
          <a:p>
            <a:pPr algn="l" marL="142240" indent="-142240">
              <a:lnSpc>
                <a:spcPct val="100000"/>
              </a:lnSpc>
              <a:buSzPct val="100000"/>
              <a:buChar char="•"/>
            </a:pPr>
            <a:r>
              <a:rPr lang="en-US" sz="700" b="1" spc="-15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Pitch:</a:t>
            </a:r>
            <a:pPr algn="l" marL="142240" indent="-142240">
              <a:lnSpc>
                <a:spcPct val="100000"/>
              </a:lnSpc>
              <a:buSzPct val="100000"/>
              <a:buChar char="•"/>
            </a:pPr>
            <a:r>
              <a:rPr lang="en-US" sz="700" spc="-15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Vertical head rotation (up/down)</a:t>
            </a:r>
            <a:endParaRPr lang="en-US" sz="700" dirty="0"/>
          </a:p>
          <a:p>
            <a:pPr algn="l" marL="142240" indent="-142240">
              <a:lnSpc>
                <a:spcPct val="100000"/>
              </a:lnSpc>
              <a:buSzPct val="100000"/>
              <a:buChar char="•"/>
            </a:pPr>
            <a:r>
              <a:rPr lang="en-US" sz="700" b="1" spc="-15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Roll:</a:t>
            </a:r>
            <a:pPr algn="l" marL="142240" indent="-142240">
              <a:lnSpc>
                <a:spcPct val="100000"/>
              </a:lnSpc>
              <a:buSzPct val="100000"/>
              <a:buChar char="•"/>
            </a:pPr>
            <a:r>
              <a:rPr lang="en-US" sz="700" spc="-15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Head tilt (clockwise/counterclockwise)</a:t>
            </a:r>
            <a:endParaRPr lang="en-US" sz="700" dirty="0"/>
          </a:p>
        </p:txBody>
      </p:sp>
      <p:sp>
        <p:nvSpPr>
          <p:cNvPr id="7" name="Text 5"/>
          <p:cNvSpPr/>
          <p:nvPr/>
        </p:nvSpPr>
        <p:spPr>
          <a:xfrm>
            <a:off x="661475" y="2288778"/>
            <a:ext cx="10868745" cy="1476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00" b="1" spc="-28" kern="0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Distraction Detection Thresholds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661475" y="2507258"/>
            <a:ext cx="10868745" cy="50303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42240" indent="-142240">
              <a:lnSpc>
                <a:spcPct val="100000"/>
              </a:lnSpc>
              <a:buSzPct val="100000"/>
              <a:buChar char="•"/>
            </a:pPr>
            <a:r>
              <a:rPr lang="en-US" sz="700" b="1" spc="-15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Yaw &gt; 20°</a:t>
            </a:r>
            <a:pPr algn="l" marL="142240" indent="-142240">
              <a:lnSpc>
                <a:spcPct val="100000"/>
              </a:lnSpc>
              <a:buSzPct val="100000"/>
              <a:buChar char="•"/>
            </a:pPr>
            <a:r>
              <a:rPr lang="en-US" sz="700" spc="-15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→ Looking away from road (left/right)</a:t>
            </a:r>
            <a:endParaRPr lang="en-US" sz="700" dirty="0"/>
          </a:p>
          <a:p>
            <a:pPr algn="l" marL="142240" indent="-142240">
              <a:lnSpc>
                <a:spcPct val="100000"/>
              </a:lnSpc>
              <a:buSzPct val="100000"/>
              <a:buChar char="•"/>
            </a:pPr>
            <a:r>
              <a:rPr lang="en-US" sz="700" b="1" spc="-15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Pitch &gt; 15°</a:t>
            </a:r>
            <a:pPr algn="l" marL="142240" indent="-142240">
              <a:lnSpc>
                <a:spcPct val="100000"/>
              </a:lnSpc>
              <a:buSzPct val="100000"/>
              <a:buChar char="•"/>
            </a:pPr>
            <a:r>
              <a:rPr lang="en-US" sz="700" spc="-15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→ Looking up/down</a:t>
            </a:r>
            <a:endParaRPr lang="en-US" sz="700" dirty="0"/>
          </a:p>
          <a:p>
            <a:pPr algn="l" marL="142240" indent="-142240">
              <a:lnSpc>
                <a:spcPct val="100000"/>
              </a:lnSpc>
              <a:buSzPct val="100000"/>
              <a:buChar char="•"/>
            </a:pPr>
            <a:r>
              <a:rPr lang="en-US" sz="700" b="1" spc="-15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Duration ≥ 2.0 seconds</a:t>
            </a:r>
            <a:pPr algn="l" marL="142240" indent="-142240">
              <a:lnSpc>
                <a:spcPct val="100000"/>
              </a:lnSpc>
              <a:buSzPct val="100000"/>
              <a:buChar char="•"/>
            </a:pPr>
            <a:r>
              <a:rPr lang="en-US" sz="700" spc="-15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→ Distraction detected</a:t>
            </a:r>
            <a:endParaRPr lang="en-US" sz="700" dirty="0"/>
          </a:p>
          <a:p>
            <a:pPr algn="l" marL="142240" indent="-142240">
              <a:lnSpc>
                <a:spcPct val="100000"/>
              </a:lnSpc>
              <a:buSzPct val="100000"/>
              <a:buChar char="•"/>
            </a:pPr>
            <a:r>
              <a:rPr lang="en-US" sz="700" b="1" spc="-15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Voice alert:</a:t>
            </a:r>
            <a:pPr algn="l" marL="142240" indent="-142240">
              <a:lnSpc>
                <a:spcPct val="100000"/>
              </a:lnSpc>
              <a:buSzPct val="100000"/>
              <a:buChar char="•"/>
            </a:pPr>
            <a:r>
              <a:rPr lang="en-US" sz="700" spc="-15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"Please keep your eyes on the road."</a:t>
            </a:r>
            <a:endParaRPr lang="en-US" sz="700" dirty="0"/>
          </a:p>
        </p:txBody>
      </p:sp>
      <p:sp>
        <p:nvSpPr>
          <p:cNvPr id="9" name="Text 7"/>
          <p:cNvSpPr/>
          <p:nvPr/>
        </p:nvSpPr>
        <p:spPr>
          <a:xfrm>
            <a:off x="661475" y="3063379"/>
            <a:ext cx="11478330" cy="1134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00" spc="-15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Visual representation of different head pose angles and their associated distraction levels:</a:t>
            </a:r>
            <a:endParaRPr lang="en-US" sz="700" dirty="0"/>
          </a:p>
        </p:txBody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1475" y="3229868"/>
            <a:ext cx="10868745" cy="6125369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918558" y="3760619"/>
            <a:ext cx="2013041" cy="3011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ct val="104000"/>
              </a:lnSpc>
              <a:buNone/>
            </a:pPr>
            <a:r>
              <a:rPr lang="en-US" sz="1850" b="1" spc="-57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FORWARD</a:t>
            </a:r>
            <a:endParaRPr lang="en-US" sz="1850" dirty="0"/>
          </a:p>
        </p:txBody>
      </p:sp>
      <p:sp>
        <p:nvSpPr>
          <p:cNvPr id="12" name="Text 9"/>
          <p:cNvSpPr/>
          <p:nvPr/>
        </p:nvSpPr>
        <p:spPr>
          <a:xfrm>
            <a:off x="918558" y="4147443"/>
            <a:ext cx="2013041" cy="1806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ct val="78000"/>
              </a:lnSpc>
              <a:buNone/>
            </a:pPr>
            <a:r>
              <a:rPr lang="en-US" sz="1500" spc="-25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Green — neutral pose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9270536" y="3760619"/>
            <a:ext cx="2002333" cy="3011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b="1" spc="-57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LEFT</a:t>
            </a:r>
            <a:endParaRPr lang="en-US" sz="1850" dirty="0"/>
          </a:p>
        </p:txBody>
      </p:sp>
      <p:sp>
        <p:nvSpPr>
          <p:cNvPr id="14" name="Text 11"/>
          <p:cNvSpPr/>
          <p:nvPr/>
        </p:nvSpPr>
        <p:spPr>
          <a:xfrm>
            <a:off x="9270536" y="4147443"/>
            <a:ext cx="2002333" cy="1806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78000"/>
              </a:lnSpc>
              <a:buNone/>
            </a:pPr>
            <a:r>
              <a:rPr lang="en-US" sz="1500" spc="-25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Yellow — yaw left</a:t>
            </a:r>
            <a:endParaRPr lang="en-US" sz="1500" dirty="0"/>
          </a:p>
        </p:txBody>
      </p:sp>
      <p:sp>
        <p:nvSpPr>
          <p:cNvPr id="15" name="Text 12"/>
          <p:cNvSpPr/>
          <p:nvPr/>
        </p:nvSpPr>
        <p:spPr>
          <a:xfrm>
            <a:off x="993679" y="8236534"/>
            <a:ext cx="1938087" cy="3011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ct val="104000"/>
              </a:lnSpc>
              <a:buNone/>
            </a:pPr>
            <a:r>
              <a:rPr lang="en-US" sz="1850" b="1" spc="-57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RIGHT</a:t>
            </a:r>
            <a:endParaRPr lang="en-US" sz="1850" dirty="0"/>
          </a:p>
        </p:txBody>
      </p:sp>
      <p:sp>
        <p:nvSpPr>
          <p:cNvPr id="16" name="Text 13"/>
          <p:cNvSpPr/>
          <p:nvPr/>
        </p:nvSpPr>
        <p:spPr>
          <a:xfrm>
            <a:off x="993679" y="8623359"/>
            <a:ext cx="1938087" cy="1806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ct val="78000"/>
              </a:lnSpc>
              <a:buNone/>
            </a:pPr>
            <a:r>
              <a:rPr lang="en-US" sz="1500" spc="-25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Yellow — yaw right</a:t>
            </a:r>
            <a:endParaRPr lang="en-US" sz="1500" dirty="0"/>
          </a:p>
        </p:txBody>
      </p:sp>
      <p:sp>
        <p:nvSpPr>
          <p:cNvPr id="17" name="Text 14"/>
          <p:cNvSpPr/>
          <p:nvPr/>
        </p:nvSpPr>
        <p:spPr>
          <a:xfrm>
            <a:off x="9206290" y="8236534"/>
            <a:ext cx="2066580" cy="3011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b="1" spc="-57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UP</a:t>
            </a:r>
            <a:endParaRPr lang="en-US" sz="1850" dirty="0"/>
          </a:p>
        </p:txBody>
      </p:sp>
      <p:sp>
        <p:nvSpPr>
          <p:cNvPr id="18" name="Text 15"/>
          <p:cNvSpPr/>
          <p:nvPr/>
        </p:nvSpPr>
        <p:spPr>
          <a:xfrm>
            <a:off x="9206290" y="8623359"/>
            <a:ext cx="2066580" cy="1806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78000"/>
              </a:lnSpc>
              <a:buNone/>
            </a:pPr>
            <a:r>
              <a:rPr lang="en-US" sz="1500" spc="-25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Red — pitch up</a:t>
            </a:r>
            <a:endParaRPr lang="en-US" sz="15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69516"/>
            <a:ext cx="10868745" cy="5260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300" b="1" spc="-99" kern="0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Mobile Phone Detection Using YOLO11n</a:t>
            </a:r>
            <a:endParaRPr lang="en-US" sz="3300" dirty="0"/>
          </a:p>
        </p:txBody>
      </p:sp>
      <p:sp>
        <p:nvSpPr>
          <p:cNvPr id="3" name="Text 1"/>
          <p:cNvSpPr/>
          <p:nvPr/>
        </p:nvSpPr>
        <p:spPr>
          <a:xfrm>
            <a:off x="661475" y="1155502"/>
            <a:ext cx="10868745" cy="2630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50" b="1" spc="-50" kern="0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Methodology</a:t>
            </a:r>
            <a:endParaRPr lang="en-US" sz="1650" dirty="0"/>
          </a:p>
        </p:txBody>
      </p:sp>
      <p:sp>
        <p:nvSpPr>
          <p:cNvPr id="4" name="Text 2"/>
          <p:cNvSpPr/>
          <p:nvPr/>
        </p:nvSpPr>
        <p:spPr>
          <a:xfrm>
            <a:off x="661475" y="1643360"/>
            <a:ext cx="10868745" cy="11755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64160" indent="-264160">
              <a:lnSpc>
                <a:spcPct val="126000"/>
              </a:lnSpc>
              <a:buSzPct val="100000"/>
              <a:buChar char="•"/>
            </a:pPr>
            <a:r>
              <a:rPr lang="en-US" sz="1300" spc="-27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YOLO11n (You Only Look Once v11 nano) is used for real-time object detection</a:t>
            </a:r>
            <a:endParaRPr lang="en-US" sz="1300" dirty="0"/>
          </a:p>
          <a:p>
            <a:pPr algn="l" marL="264160" indent="-264160">
              <a:lnSpc>
                <a:spcPct val="126000"/>
              </a:lnSpc>
              <a:buSzPct val="100000"/>
              <a:buChar char="•"/>
            </a:pPr>
            <a:r>
              <a:rPr lang="en-US" sz="1300" spc="-27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model is pre-trained on COCO dataset with 80 object classes</a:t>
            </a:r>
            <a:endParaRPr lang="en-US" sz="1300" dirty="0"/>
          </a:p>
          <a:p>
            <a:pPr algn="l" marL="264160" indent="-264160">
              <a:lnSpc>
                <a:spcPct val="126000"/>
              </a:lnSpc>
              <a:buSzPct val="100000"/>
              <a:buChar char="•"/>
            </a:pPr>
            <a:r>
              <a:rPr lang="en-US" sz="1300" spc="-27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system specifically monitors for the "cell phone" class</a:t>
            </a:r>
            <a:endParaRPr lang="en-US" sz="1300" dirty="0"/>
          </a:p>
          <a:p>
            <a:pPr algn="l" marL="264160" indent="-264160">
              <a:lnSpc>
                <a:spcPct val="126000"/>
              </a:lnSpc>
              <a:buSzPct val="100000"/>
              <a:buChar char="•"/>
            </a:pPr>
            <a:r>
              <a:rPr lang="en-US" sz="1300" spc="-27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Bounding boxes are drawn around detected phones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61475" y="3043734"/>
            <a:ext cx="10868745" cy="2630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50" b="1" spc="-50" kern="0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Detection Parameters</a:t>
            </a:r>
            <a:endParaRPr lang="en-US" sz="1650" dirty="0"/>
          </a:p>
        </p:txBody>
      </p:sp>
      <p:sp>
        <p:nvSpPr>
          <p:cNvPr id="6" name="Text 4"/>
          <p:cNvSpPr/>
          <p:nvPr/>
        </p:nvSpPr>
        <p:spPr>
          <a:xfrm>
            <a:off x="661475" y="3531592"/>
            <a:ext cx="10868745" cy="11755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64160" indent="-264160">
              <a:lnSpc>
                <a:spcPct val="126000"/>
              </a:lnSpc>
              <a:buSzPct val="100000"/>
              <a:buChar char="•"/>
            </a:pPr>
            <a:r>
              <a:rPr lang="en-US" sz="1300" b="1" spc="-27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Model:</a:t>
            </a:r>
            <a:pPr algn="l" marL="264160" indent="-264160">
              <a:lnSpc>
                <a:spcPct val="126000"/>
              </a:lnSpc>
              <a:buSzPct val="100000"/>
              <a:buChar char="•"/>
            </a:pPr>
            <a:r>
              <a:rPr lang="en-US" sz="1300" spc="-27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YOLO11n (lightweight, real-time capable)</a:t>
            </a:r>
            <a:endParaRPr lang="en-US" sz="1300" dirty="0"/>
          </a:p>
          <a:p>
            <a:pPr algn="l" marL="264160" indent="-264160">
              <a:lnSpc>
                <a:spcPct val="126000"/>
              </a:lnSpc>
              <a:buSzPct val="100000"/>
              <a:buChar char="•"/>
            </a:pPr>
            <a:r>
              <a:rPr lang="en-US" sz="1300" b="1" spc="-27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Confidence threshold:</a:t>
            </a:r>
            <a:pPr algn="l" marL="264160" indent="-264160">
              <a:lnSpc>
                <a:spcPct val="126000"/>
              </a:lnSpc>
              <a:buSzPct val="100000"/>
              <a:buChar char="•"/>
            </a:pPr>
            <a:r>
              <a:rPr lang="en-US" sz="1300" spc="-27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0.50 (50% minimum confidence)</a:t>
            </a:r>
            <a:endParaRPr lang="en-US" sz="1300" dirty="0"/>
          </a:p>
          <a:p>
            <a:pPr algn="l" marL="264160" indent="-264160">
              <a:lnSpc>
                <a:spcPct val="126000"/>
              </a:lnSpc>
              <a:buSzPct val="100000"/>
              <a:buChar char="•"/>
            </a:pPr>
            <a:r>
              <a:rPr lang="en-US" sz="1300" b="1" spc="-27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Detection duration:</a:t>
            </a:r>
            <a:pPr algn="l" marL="264160" indent="-264160">
              <a:lnSpc>
                <a:spcPct val="126000"/>
              </a:lnSpc>
              <a:buSzPct val="100000"/>
              <a:buChar char="•"/>
            </a:pPr>
            <a:r>
              <a:rPr lang="en-US" sz="1300" spc="-27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≥ 1.5 seconds required for alert</a:t>
            </a:r>
            <a:endParaRPr lang="en-US" sz="1300" dirty="0"/>
          </a:p>
          <a:p>
            <a:pPr algn="l" marL="264160" indent="-264160">
              <a:lnSpc>
                <a:spcPct val="126000"/>
              </a:lnSpc>
              <a:buSzPct val="100000"/>
              <a:buChar char="•"/>
            </a:pPr>
            <a:r>
              <a:rPr lang="en-US" sz="1300" b="1" spc="-27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Bounding box visualization:</a:t>
            </a:r>
            <a:pPr algn="l" marL="264160" indent="-264160">
              <a:lnSpc>
                <a:spcPct val="126000"/>
              </a:lnSpc>
              <a:buSzPct val="100000"/>
              <a:buChar char="•"/>
            </a:pPr>
            <a:r>
              <a:rPr lang="en-US" sz="1300" spc="-27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Red rectangle around detected phone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61475" y="4931966"/>
            <a:ext cx="10868745" cy="2630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50" b="1" spc="-50" kern="0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Alert Logic</a:t>
            </a:r>
            <a:endParaRPr lang="en-US" sz="1650" dirty="0"/>
          </a:p>
        </p:txBody>
      </p:sp>
      <p:sp>
        <p:nvSpPr>
          <p:cNvPr id="8" name="Text 6"/>
          <p:cNvSpPr/>
          <p:nvPr/>
        </p:nvSpPr>
        <p:spPr>
          <a:xfrm>
            <a:off x="661475" y="5419824"/>
            <a:ext cx="10868745" cy="8685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64160" indent="-264160">
              <a:lnSpc>
                <a:spcPct val="126000"/>
              </a:lnSpc>
              <a:buSzPct val="100000"/>
              <a:buChar char="•"/>
            </a:pPr>
            <a:r>
              <a:rPr lang="en-US" sz="1300" spc="-27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If phone detected for ≥ 1.5 seconds → Phone usage detected</a:t>
            </a:r>
            <a:endParaRPr lang="en-US" sz="1300" dirty="0"/>
          </a:p>
          <a:p>
            <a:pPr algn="l" marL="264160" indent="-264160">
              <a:lnSpc>
                <a:spcPct val="126000"/>
              </a:lnSpc>
              <a:buSzPct val="100000"/>
              <a:buChar char="•"/>
            </a:pPr>
            <a:r>
              <a:rPr lang="en-US" sz="1300" spc="-27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Voice alert: "Warning! Mobile phone detected. Please stop using your phone while driving."</a:t>
            </a:r>
            <a:endParaRPr lang="en-US" sz="1300" dirty="0"/>
          </a:p>
          <a:p>
            <a:pPr algn="l" marL="264160" indent="-264160">
              <a:lnSpc>
                <a:spcPct val="126000"/>
              </a:lnSpc>
              <a:buSzPct val="100000"/>
              <a:buChar char="•"/>
            </a:pPr>
            <a:r>
              <a:rPr lang="en-US" sz="1300" spc="-27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Safety score penalty: -15 points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19807"/>
            <a:ext cx="10868745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b="1" spc="-56" kern="0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Alert and Event Management System</a:t>
            </a:r>
            <a:endParaRPr lang="en-US" sz="1850" dirty="0"/>
          </a:p>
        </p:txBody>
      </p:sp>
      <p:sp>
        <p:nvSpPr>
          <p:cNvPr id="3" name="Text 1"/>
          <p:cNvSpPr/>
          <p:nvPr/>
        </p:nvSpPr>
        <p:spPr>
          <a:xfrm>
            <a:off x="661475" y="833934"/>
            <a:ext cx="10868745" cy="2362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50" b="1" spc="-45" kern="0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Detection Events and Voice Alerts</a:t>
            </a:r>
            <a:endParaRPr lang="en-US" sz="145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1475" y="1141016"/>
            <a:ext cx="472468" cy="567035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181170" y="1235472"/>
            <a:ext cx="10349050" cy="1476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00" b="1" spc="-28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Drowsiness Detection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1181170" y="1411387"/>
            <a:ext cx="10349050" cy="1134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00" spc="-15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Voice Alert: "Wake up! Please keep your eyes open."</a:t>
            </a:r>
            <a:endParaRPr lang="en-US" sz="70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1475" y="1708051"/>
            <a:ext cx="472468" cy="567035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181170" y="1802507"/>
            <a:ext cx="10349050" cy="1476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00" b="1" spc="-28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Yawning Detection</a:t>
            </a:r>
            <a:endParaRPr lang="en-US" sz="900" dirty="0"/>
          </a:p>
        </p:txBody>
      </p:sp>
      <p:sp>
        <p:nvSpPr>
          <p:cNvPr id="9" name="Text 5"/>
          <p:cNvSpPr/>
          <p:nvPr/>
        </p:nvSpPr>
        <p:spPr>
          <a:xfrm>
            <a:off x="1181170" y="1978422"/>
            <a:ext cx="10349050" cy="1134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00" spc="-15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Voice Alert: "You appear tired. Please stay alert."</a:t>
            </a:r>
            <a:endParaRPr lang="en-US" sz="700" dirty="0"/>
          </a:p>
        </p:txBody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475" y="2275086"/>
            <a:ext cx="472468" cy="567035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1181170" y="2369542"/>
            <a:ext cx="10349050" cy="1476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00" b="1" spc="-28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Distraction Detection</a:t>
            </a:r>
            <a:endParaRPr lang="en-US" sz="900" dirty="0"/>
          </a:p>
        </p:txBody>
      </p:sp>
      <p:sp>
        <p:nvSpPr>
          <p:cNvPr id="12" name="Text 7"/>
          <p:cNvSpPr/>
          <p:nvPr/>
        </p:nvSpPr>
        <p:spPr>
          <a:xfrm>
            <a:off x="1181170" y="2545457"/>
            <a:ext cx="10349050" cy="1134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00" spc="-15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Voice Alert: "Please keep your eyes on the road."</a:t>
            </a:r>
            <a:endParaRPr lang="en-US" sz="700" dirty="0"/>
          </a:p>
        </p:txBody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1475" y="2842121"/>
            <a:ext cx="472468" cy="567035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181170" y="2936577"/>
            <a:ext cx="10349050" cy="1476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00" b="1" spc="-28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Mobile Phone Detection</a:t>
            </a:r>
            <a:endParaRPr lang="en-US" sz="900" dirty="0"/>
          </a:p>
        </p:txBody>
      </p:sp>
      <p:sp>
        <p:nvSpPr>
          <p:cNvPr id="15" name="Text 9"/>
          <p:cNvSpPr/>
          <p:nvPr/>
        </p:nvSpPr>
        <p:spPr>
          <a:xfrm>
            <a:off x="1181170" y="3112492"/>
            <a:ext cx="10349050" cy="1134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00" spc="-15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Voice Alert: "Warning! Mobile phone detected. Please stop using your phone while driving."</a:t>
            </a:r>
            <a:endParaRPr lang="en-US" sz="700" dirty="0"/>
          </a:p>
        </p:txBody>
      </p:sp>
      <p:sp>
        <p:nvSpPr>
          <p:cNvPr id="16" name="Text 10"/>
          <p:cNvSpPr/>
          <p:nvPr/>
        </p:nvSpPr>
        <p:spPr>
          <a:xfrm>
            <a:off x="661475" y="3479998"/>
            <a:ext cx="10868745" cy="2362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50" b="1" spc="-45" kern="0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Event Processing Pipeline</a:t>
            </a:r>
            <a:endParaRPr lang="en-US" sz="1450" dirty="0"/>
          </a:p>
        </p:txBody>
      </p:sp>
      <p:pic>
        <p:nvPicPr>
          <p:cNvPr id="1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6221" y="3787080"/>
            <a:ext cx="10779153" cy="4648299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1431583" y="7553888"/>
            <a:ext cx="2445408" cy="3056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900" b="1" spc="-58" kern="0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Log Event</a:t>
            </a:r>
            <a:endParaRPr lang="en-US" sz="1900" dirty="0"/>
          </a:p>
        </p:txBody>
      </p:sp>
      <p:sp>
        <p:nvSpPr>
          <p:cNvPr id="19" name="Text 12"/>
          <p:cNvSpPr/>
          <p:nvPr/>
        </p:nvSpPr>
        <p:spPr>
          <a:xfrm>
            <a:off x="1431583" y="6477882"/>
            <a:ext cx="2445408" cy="3056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900" b="1" spc="-58" kern="0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Update Score</a:t>
            </a:r>
            <a:endParaRPr lang="en-US" sz="1900" dirty="0"/>
          </a:p>
        </p:txBody>
      </p:sp>
      <p:sp>
        <p:nvSpPr>
          <p:cNvPr id="20" name="Text 13"/>
          <p:cNvSpPr/>
          <p:nvPr/>
        </p:nvSpPr>
        <p:spPr>
          <a:xfrm>
            <a:off x="1431583" y="5412745"/>
            <a:ext cx="2445408" cy="3056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900" b="1" spc="-58" kern="0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Alert Generation</a:t>
            </a:r>
            <a:endParaRPr lang="en-US" sz="1900" dirty="0"/>
          </a:p>
        </p:txBody>
      </p:sp>
      <p:sp>
        <p:nvSpPr>
          <p:cNvPr id="21" name="Text 14"/>
          <p:cNvSpPr/>
          <p:nvPr/>
        </p:nvSpPr>
        <p:spPr>
          <a:xfrm>
            <a:off x="1431583" y="4336738"/>
            <a:ext cx="2445408" cy="3056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900" b="1" spc="-58" kern="0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Detect Event</a:t>
            </a:r>
            <a:endParaRPr lang="en-US" sz="1900" dirty="0"/>
          </a:p>
        </p:txBody>
      </p:sp>
      <p:sp>
        <p:nvSpPr>
          <p:cNvPr id="22" name="Text 15"/>
          <p:cNvSpPr/>
          <p:nvPr/>
        </p:nvSpPr>
        <p:spPr>
          <a:xfrm>
            <a:off x="661475" y="8506222"/>
            <a:ext cx="10868745" cy="2362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50" b="1" spc="-45" kern="0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Event Logging Details</a:t>
            </a:r>
            <a:endParaRPr lang="en-US" sz="1450" dirty="0"/>
          </a:p>
        </p:txBody>
      </p:sp>
      <p:sp>
        <p:nvSpPr>
          <p:cNvPr id="23" name="Text 16"/>
          <p:cNvSpPr/>
          <p:nvPr/>
        </p:nvSpPr>
        <p:spPr>
          <a:xfrm>
            <a:off x="661475" y="8813304"/>
            <a:ext cx="10868745" cy="50303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42240" indent="-142240">
              <a:lnSpc>
                <a:spcPct val="100000"/>
              </a:lnSpc>
              <a:buSzPct val="100000"/>
              <a:buChar char="•"/>
            </a:pPr>
            <a:r>
              <a:rPr lang="en-US" sz="700" b="1" spc="-15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Date:</a:t>
            </a:r>
            <a:pPr algn="l" marL="142240" indent="-142240">
              <a:lnSpc>
                <a:spcPct val="100000"/>
              </a:lnSpc>
              <a:buSzPct val="100000"/>
              <a:buChar char="•"/>
            </a:pPr>
            <a:r>
              <a:rPr lang="en-US" sz="700" spc="-15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YYYY-MM-DD</a:t>
            </a:r>
            <a:endParaRPr lang="en-US" sz="700" dirty="0"/>
          </a:p>
          <a:p>
            <a:pPr algn="l" marL="142240" indent="-142240">
              <a:lnSpc>
                <a:spcPct val="100000"/>
              </a:lnSpc>
              <a:buSzPct val="100000"/>
              <a:buChar char="•"/>
            </a:pPr>
            <a:r>
              <a:rPr lang="en-US" sz="700" b="1" spc="-15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Time:</a:t>
            </a:r>
            <a:pPr algn="l" marL="142240" indent="-142240">
              <a:lnSpc>
                <a:spcPct val="100000"/>
              </a:lnSpc>
              <a:buSzPct val="100000"/>
              <a:buChar char="•"/>
            </a:pPr>
            <a:r>
              <a:rPr lang="en-US" sz="700" spc="-15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HH:MM:SS</a:t>
            </a:r>
            <a:endParaRPr lang="en-US" sz="700" dirty="0"/>
          </a:p>
          <a:p>
            <a:pPr algn="l" marL="142240" indent="-142240">
              <a:lnSpc>
                <a:spcPct val="100000"/>
              </a:lnSpc>
              <a:buSzPct val="100000"/>
              <a:buChar char="•"/>
            </a:pPr>
            <a:r>
              <a:rPr lang="en-US" sz="700" b="1" spc="-15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Event:</a:t>
            </a:r>
            <a:pPr algn="l" marL="142240" indent="-142240">
              <a:lnSpc>
                <a:spcPct val="100000"/>
              </a:lnSpc>
              <a:buSzPct val="100000"/>
              <a:buChar char="•"/>
            </a:pPr>
            <a:r>
              <a:rPr lang="en-US" sz="700" spc="-15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Type of detection (Drowsiness, Yawning, Distraction, Phone)</a:t>
            </a:r>
            <a:endParaRPr lang="en-US" sz="700" dirty="0"/>
          </a:p>
          <a:p>
            <a:pPr algn="l" marL="142240" indent="-142240">
              <a:lnSpc>
                <a:spcPct val="100000"/>
              </a:lnSpc>
              <a:buSzPct val="100000"/>
              <a:buChar char="•"/>
            </a:pPr>
            <a:r>
              <a:rPr lang="en-US" sz="700" b="1" spc="-15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Duration:</a:t>
            </a:r>
            <a:pPr algn="l" marL="142240" indent="-142240">
              <a:lnSpc>
                <a:spcPct val="100000"/>
              </a:lnSpc>
              <a:buSzPct val="100000"/>
              <a:buChar char="•"/>
            </a:pPr>
            <a:r>
              <a:rPr lang="en-US" sz="700" spc="-15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How long the condition persisted (seconds)</a:t>
            </a:r>
            <a:endParaRPr lang="en-US" sz="7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19807"/>
            <a:ext cx="10868745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b="1" spc="-56" kern="0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Safety Score System</a:t>
            </a:r>
            <a:endParaRPr lang="en-US" sz="1850" dirty="0"/>
          </a:p>
        </p:txBody>
      </p:sp>
      <p:sp>
        <p:nvSpPr>
          <p:cNvPr id="3" name="Text 1"/>
          <p:cNvSpPr/>
          <p:nvPr/>
        </p:nvSpPr>
        <p:spPr>
          <a:xfrm>
            <a:off x="661475" y="909538"/>
            <a:ext cx="11478330" cy="1134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00" spc="-15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Initial Score: 100 points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661475" y="1093788"/>
            <a:ext cx="10868745" cy="1476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00" b="1" spc="-28" kern="0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Penalty Structure:</a:t>
            </a:r>
            <a:endParaRPr lang="en-US" sz="9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61475" y="1312267"/>
          <a:ext cx="9143771" cy="914400"/>
        </p:xfrm>
        <a:graphic>
          <a:graphicData uri="http://schemas.openxmlformats.org/drawingml/2006/table">
            <a:tbl>
              <a:tblPr/>
              <a:tblGrid>
                <a:gridCol w="5434373"/>
                <a:gridCol w="5434373"/>
              </a:tblGrid>
              <a:tr h="1858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spc="-15" kern="0" dirty="0">
                          <a:solidFill>
                            <a:srgbClr val="27252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Event Type</a:t>
                      </a:r>
                      <a:endParaRPr lang="en-US" sz="8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4509" marR="94509" marT="6350" marB="6350" anchor="ctr">
                    <a:lnL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spc="-15" kern="0" dirty="0">
                          <a:solidFill>
                            <a:srgbClr val="27252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Penalty Points</a:t>
                      </a:r>
                      <a:endParaRPr lang="en-US" sz="8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4509" marR="94509" marT="6350" marB="635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8900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spc="-15" kern="0" dirty="0">
                          <a:solidFill>
                            <a:srgbClr val="27252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Drowsiness</a:t>
                      </a:r>
                      <a:endParaRPr lang="en-US" sz="8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4509" marR="94509" marT="6350" marB="6350" anchor="ctr">
                    <a:lnL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spc="-15" kern="0" dirty="0">
                          <a:solidFill>
                            <a:srgbClr val="27252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-15 points</a:t>
                      </a:r>
                      <a:endParaRPr lang="en-US" sz="8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4509" marR="94509" marT="6350" marB="635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8900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spc="-15" kern="0" dirty="0">
                          <a:solidFill>
                            <a:srgbClr val="27252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Yawning</a:t>
                      </a:r>
                      <a:endParaRPr lang="en-US" sz="8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4509" marR="94509" marT="6350" marB="6350" anchor="ctr">
                    <a:lnL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spc="-15" kern="0" dirty="0">
                          <a:solidFill>
                            <a:srgbClr val="27252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-5 points</a:t>
                      </a:r>
                      <a:endParaRPr lang="en-US" sz="8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4509" marR="94509" marT="6350" marB="635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8900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spc="-15" kern="0" dirty="0">
                          <a:solidFill>
                            <a:srgbClr val="27252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Distraction</a:t>
                      </a:r>
                      <a:endParaRPr lang="en-US" sz="8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4509" marR="94509" marT="6350" marB="6350" anchor="ctr">
                    <a:lnL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spc="-15" kern="0" dirty="0">
                          <a:solidFill>
                            <a:srgbClr val="27252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-10 points</a:t>
                      </a:r>
                      <a:endParaRPr lang="en-US" sz="8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4509" marR="94509" marT="6350" marB="635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858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spc="-15" kern="0" dirty="0">
                          <a:solidFill>
                            <a:srgbClr val="27252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Mobile Phone Usage</a:t>
                      </a:r>
                      <a:endParaRPr lang="en-US" sz="8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4509" marR="94509" marT="6350" marB="6350" anchor="ctr">
                    <a:lnL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spc="-15" kern="0" dirty="0">
                          <a:solidFill>
                            <a:srgbClr val="27252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-15 points</a:t>
                      </a:r>
                      <a:endParaRPr lang="en-US" sz="8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4509" marR="94509" marT="6350" marB="635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661475" y="2334518"/>
            <a:ext cx="10868745" cy="1476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00" b="1" spc="-28" kern="0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Safety Status Classification:</a:t>
            </a:r>
            <a:endParaRPr lang="en-US" sz="900" dirty="0"/>
          </a:p>
        </p:txBody>
      </p:sp>
      <p:graphicFrame>
        <p:nvGraphicFramePr>
          <p:cNvPr id="25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61475" y="2552998"/>
          <a:ext cx="9143771" cy="914400"/>
        </p:xfrm>
        <a:graphic>
          <a:graphicData uri="http://schemas.openxmlformats.org/drawingml/2006/table">
            <a:tbl>
              <a:tblPr/>
              <a:tblGrid>
                <a:gridCol w="3622915"/>
                <a:gridCol w="3622915"/>
                <a:gridCol w="3622915"/>
              </a:tblGrid>
              <a:tr h="1858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spc="-15" kern="0" dirty="0">
                          <a:solidFill>
                            <a:srgbClr val="27252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Score Range</a:t>
                      </a:r>
                      <a:endParaRPr lang="en-US" sz="8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4509" marR="94509" marT="6350" marB="6350" anchor="ctr">
                    <a:lnL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spc="-15" kern="0" dirty="0">
                          <a:solidFill>
                            <a:srgbClr val="27252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Status</a:t>
                      </a:r>
                      <a:endParaRPr lang="en-US" sz="8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4509" marR="94509" marT="6350" marB="635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spc="-15" kern="0" dirty="0">
                          <a:solidFill>
                            <a:srgbClr val="27252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Color</a:t>
                      </a:r>
                      <a:endParaRPr lang="en-US" sz="8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4509" marR="94509" marT="6350" marB="635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8900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spc="-15" kern="0" dirty="0">
                          <a:solidFill>
                            <a:srgbClr val="27252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80–100</a:t>
                      </a:r>
                      <a:endParaRPr lang="en-US" sz="8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4509" marR="94509" marT="6350" marB="6350" anchor="ctr">
                    <a:lnL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spc="-15" kern="0" dirty="0">
                          <a:solidFill>
                            <a:srgbClr val="27252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SAFE</a:t>
                      </a:r>
                      <a:endParaRPr lang="en-US" sz="8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4509" marR="94509" marT="6350" marB="635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spc="-15" kern="0" dirty="0">
                          <a:solidFill>
                            <a:srgbClr val="FFFFF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Green</a:t>
                      </a:r>
                      <a:endParaRPr lang="en-US" sz="8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4509" marR="94509" marT="6350" marB="6350" anchor="ctr">
                    <a:lnL w="12700" cap="flat" cmpd="sng" algn="ctr">
                      <a:solidFill>
                        <a:srgbClr val="28A7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8A745"/>
                    </a:solidFill>
                  </a:tcPr>
                </a:tc>
              </a:tr>
              <a:tr h="18900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spc="-15" kern="0" dirty="0">
                          <a:solidFill>
                            <a:srgbClr val="27252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60–79</a:t>
                      </a:r>
                      <a:endParaRPr lang="en-US" sz="8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4509" marR="94509" marT="6350" marB="6350" anchor="ctr">
                    <a:lnL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spc="-15" kern="0" dirty="0">
                          <a:solidFill>
                            <a:srgbClr val="27252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MODERATE</a:t>
                      </a:r>
                      <a:endParaRPr lang="en-US" sz="8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4509" marR="94509" marT="6350" marB="635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spc="-15" kern="0" dirty="0">
                          <a:solidFill>
                            <a:srgbClr val="FFFFF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Yellow</a:t>
                      </a:r>
                      <a:endParaRPr lang="en-US" sz="8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4509" marR="94509" marT="6350" marB="6350" anchor="ctr">
                    <a:lnL w="12700" cap="flat" cmpd="sng" algn="ctr">
                      <a:solidFill>
                        <a:srgbClr val="FFC10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107"/>
                    </a:solidFill>
                  </a:tcPr>
                </a:tc>
              </a:tr>
              <a:tr h="18900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spc="-15" kern="0" dirty="0">
                          <a:solidFill>
                            <a:srgbClr val="27252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40–59</a:t>
                      </a:r>
                      <a:endParaRPr lang="en-US" sz="8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4509" marR="94509" marT="6350" marB="6350" anchor="ctr">
                    <a:lnL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spc="-15" kern="0" dirty="0">
                          <a:solidFill>
                            <a:srgbClr val="27252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WARNING</a:t>
                      </a:r>
                      <a:endParaRPr lang="en-US" sz="8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4509" marR="94509" marT="6350" marB="635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spc="-15" kern="0" dirty="0">
                          <a:solidFill>
                            <a:srgbClr val="FFFFF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Orange</a:t>
                      </a:r>
                      <a:endParaRPr lang="en-US" sz="8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4509" marR="94509" marT="6350" marB="6350" anchor="ctr">
                    <a:lnL w="12700" cap="flat" cmpd="sng" algn="ctr">
                      <a:solidFill>
                        <a:srgbClr val="FD7E1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7E14"/>
                    </a:solidFill>
                  </a:tcPr>
                </a:tc>
              </a:tr>
              <a:tr h="1858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spc="-15" kern="0" dirty="0">
                          <a:solidFill>
                            <a:srgbClr val="27252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0–39</a:t>
                      </a:r>
                      <a:endParaRPr lang="en-US" sz="8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4509" marR="94509" marT="6350" marB="6350" anchor="ctr">
                    <a:lnL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spc="-15" kern="0" dirty="0">
                          <a:solidFill>
                            <a:srgbClr val="27252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HIGH RISK</a:t>
                      </a:r>
                      <a:endParaRPr lang="en-US" sz="8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4509" marR="94509" marT="6350" marB="635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spc="-15" kern="0" dirty="0">
                          <a:solidFill>
                            <a:srgbClr val="FFFFF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Red</a:t>
                      </a:r>
                      <a:endParaRPr lang="en-US" sz="8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94509" marR="94509" marT="6350" marB="6350" anchor="ctr">
                    <a:lnL w="12700" cap="flat" cmpd="sng" algn="ctr">
                      <a:solidFill>
                        <a:srgbClr val="DC354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0C1D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3545"/>
                    </a:solidFill>
                  </a:tcPr>
                </a:tc>
              </a:tr>
            </a:tbl>
          </a:graphicData>
        </a:graphic>
      </p:graphicFrame>
      <p:sp>
        <p:nvSpPr>
          <p:cNvPr id="8" name="Text 4"/>
          <p:cNvSpPr/>
          <p:nvPr/>
        </p:nvSpPr>
        <p:spPr>
          <a:xfrm>
            <a:off x="803156" y="3610570"/>
            <a:ext cx="11336649" cy="1134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00" spc="-15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      This is the project's implemented scoring mechanism. It is not a medically or scientifically validated risk assessment tool. The score provides a relative measure of driver behavior during the monitoring session.     </a:t>
            </a:r>
            <a:endParaRPr lang="en-US" sz="700" dirty="0"/>
          </a:p>
        </p:txBody>
      </p:sp>
      <p:sp>
        <p:nvSpPr>
          <p:cNvPr id="9" name="Shape 5"/>
          <p:cNvSpPr/>
          <p:nvPr/>
        </p:nvSpPr>
        <p:spPr>
          <a:xfrm>
            <a:off x="661475" y="3557488"/>
            <a:ext cx="12700" cy="219571"/>
          </a:xfrm>
          <a:prstGeom prst="roundRect">
            <a:avLst>
              <a:gd name="adj" fmla="val 49999"/>
            </a:avLst>
          </a:prstGeom>
          <a:solidFill>
            <a:srgbClr val="4950BC"/>
          </a:solidFill>
          <a:ln/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1475" y="3830141"/>
            <a:ext cx="10868745" cy="4890988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2298699" y="4180244"/>
            <a:ext cx="1902004" cy="2939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850" b="1" spc="-56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SAFE</a:t>
            </a:r>
            <a:endParaRPr lang="en-US" sz="1850" dirty="0"/>
          </a:p>
        </p:txBody>
      </p:sp>
      <p:sp>
        <p:nvSpPr>
          <p:cNvPr id="12" name="Text 7"/>
          <p:cNvSpPr/>
          <p:nvPr/>
        </p:nvSpPr>
        <p:spPr>
          <a:xfrm>
            <a:off x="2298699" y="4557780"/>
            <a:ext cx="1902004" cy="1763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78000"/>
              </a:lnSpc>
              <a:buNone/>
            </a:pPr>
            <a:r>
              <a:rPr lang="en-US" sz="1450" spc="-24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80–100 score</a:t>
            </a:r>
            <a:endParaRPr lang="en-US" sz="1450" dirty="0"/>
          </a:p>
        </p:txBody>
      </p:sp>
      <p:sp>
        <p:nvSpPr>
          <p:cNvPr id="13" name="Text 8"/>
          <p:cNvSpPr/>
          <p:nvPr/>
        </p:nvSpPr>
        <p:spPr>
          <a:xfrm>
            <a:off x="4179801" y="7848485"/>
            <a:ext cx="1912454" cy="2939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850" b="1" spc="-56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MODERATE</a:t>
            </a:r>
            <a:endParaRPr lang="en-US" sz="1850" dirty="0"/>
          </a:p>
        </p:txBody>
      </p:sp>
      <p:sp>
        <p:nvSpPr>
          <p:cNvPr id="14" name="Text 9"/>
          <p:cNvSpPr/>
          <p:nvPr/>
        </p:nvSpPr>
        <p:spPr>
          <a:xfrm>
            <a:off x="4179801" y="8226022"/>
            <a:ext cx="1912454" cy="1763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78000"/>
              </a:lnSpc>
              <a:buNone/>
            </a:pPr>
            <a:r>
              <a:rPr lang="en-US" sz="1450" spc="-24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60–79 score</a:t>
            </a:r>
            <a:endParaRPr lang="en-US" sz="1450" dirty="0"/>
          </a:p>
        </p:txBody>
      </p:sp>
      <p:sp>
        <p:nvSpPr>
          <p:cNvPr id="15" name="Text 10"/>
          <p:cNvSpPr/>
          <p:nvPr/>
        </p:nvSpPr>
        <p:spPr>
          <a:xfrm>
            <a:off x="6040002" y="4143666"/>
            <a:ext cx="1902003" cy="2939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850" b="1" spc="-56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WARNING</a:t>
            </a:r>
            <a:endParaRPr lang="en-US" sz="1850" dirty="0"/>
          </a:p>
        </p:txBody>
      </p:sp>
      <p:sp>
        <p:nvSpPr>
          <p:cNvPr id="16" name="Text 11"/>
          <p:cNvSpPr/>
          <p:nvPr/>
        </p:nvSpPr>
        <p:spPr>
          <a:xfrm>
            <a:off x="6040002" y="4521202"/>
            <a:ext cx="1902003" cy="1763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78000"/>
              </a:lnSpc>
              <a:buNone/>
            </a:pPr>
            <a:r>
              <a:rPr lang="en-US" sz="1450" spc="-24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40–59 score</a:t>
            </a:r>
            <a:endParaRPr lang="en-US" sz="1450" dirty="0"/>
          </a:p>
        </p:txBody>
      </p:sp>
      <p:sp>
        <p:nvSpPr>
          <p:cNvPr id="17" name="Text 12"/>
          <p:cNvSpPr/>
          <p:nvPr/>
        </p:nvSpPr>
        <p:spPr>
          <a:xfrm>
            <a:off x="7921104" y="7848485"/>
            <a:ext cx="1902004" cy="2939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850" b="1" spc="-56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HIGH RISK</a:t>
            </a:r>
            <a:endParaRPr lang="en-US" sz="1850" dirty="0"/>
          </a:p>
        </p:txBody>
      </p:sp>
      <p:sp>
        <p:nvSpPr>
          <p:cNvPr id="18" name="Text 13"/>
          <p:cNvSpPr/>
          <p:nvPr/>
        </p:nvSpPr>
        <p:spPr>
          <a:xfrm>
            <a:off x="7921104" y="8226022"/>
            <a:ext cx="1902004" cy="1763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78000"/>
              </a:lnSpc>
              <a:buNone/>
            </a:pPr>
            <a:r>
              <a:rPr lang="en-US" sz="1450" spc="-24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0–39 score</a:t>
            </a:r>
            <a:endParaRPr lang="en-US" sz="14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66738"/>
            <a:ext cx="10868745" cy="415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600" b="1" spc="-78" kern="0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Real-Time System Dashboard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661475" y="1122164"/>
            <a:ext cx="11478330" cy="1810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4000"/>
              </a:lnSpc>
              <a:buNone/>
            </a:pPr>
            <a:r>
              <a:rPr lang="en-US" sz="1000" spc="-21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OpenCV-based dashboard displays the following information in real time: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661475" y="1408311"/>
            <a:ext cx="10868745" cy="48828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03200" indent="-203200">
              <a:lnSpc>
                <a:spcPct val="114000"/>
              </a:lnSpc>
              <a:buSzPct val="100000"/>
              <a:buChar char="•"/>
            </a:pPr>
            <a:r>
              <a:rPr lang="en-US" sz="1000" spc="-21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        </a:t>
            </a:r>
            <a:pPr algn="l" marL="203200" indent="-203200">
              <a:lnSpc>
                <a:spcPct val="114000"/>
              </a:lnSpc>
              <a:buSzPct val="100000"/>
              <a:buChar char="•"/>
            </a:pPr>
            <a:r>
              <a:rPr lang="en-US" sz="1000" b="1" spc="-21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Driver Status Indicators:</a:t>
            </a:r>
            <a:pPr algn="l" marL="203200" indent="-203200">
              <a:lnSpc>
                <a:spcPct val="114000"/>
              </a:lnSpc>
              <a:buSzPct val="100000"/>
              <a:buChar char="•"/>
            </a:pPr>
            <a:r>
              <a:rPr lang="en-US" sz="1000" spc="-21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        </a:t>
            </a:r>
            <a:endParaRPr lang="en-US" sz="1000" dirty="0"/>
          </a:p>
          <a:p>
            <a:pPr algn="l" lvl="1" marL="406400" indent="-203200">
              <a:lnSpc>
                <a:spcPct val="114000"/>
              </a:lnSpc>
              <a:buSzPct val="100000"/>
              <a:buChar char="◦"/>
            </a:pPr>
            <a:r>
              <a:rPr lang="en-US" sz="1000" spc="-21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Current driver state (ALERT, DROWSY, YAWNING, DISTRACTED, PHONE_DETECTED)</a:t>
            </a:r>
            <a:endParaRPr lang="en-US" sz="1000" dirty="0"/>
          </a:p>
          <a:p>
            <a:pPr algn="l" lvl="1" marL="406400" indent="-203200">
              <a:lnSpc>
                <a:spcPct val="114000"/>
              </a:lnSpc>
              <a:buSzPct val="100000"/>
              <a:buChar char="◦"/>
            </a:pPr>
            <a:r>
              <a:rPr lang="en-US" sz="1000" spc="-21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Real-time video feed with facial landmarks overlay</a:t>
            </a:r>
            <a:endParaRPr lang="en-US" sz="1000" dirty="0"/>
          </a:p>
          <a:p>
            <a:pPr algn="l" lvl="1" marL="406400" indent="-203200">
              <a:lnSpc>
                <a:spcPct val="114000"/>
              </a:lnSpc>
              <a:buSzPct val="100000"/>
              <a:buChar char="◦"/>
            </a:pPr>
            <a:r>
              <a:rPr lang="en-US" sz="1000" spc="-21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Eye Aspect Ratio (EAR) value and status</a:t>
            </a:r>
            <a:endParaRPr lang="en-US" sz="1000" dirty="0"/>
          </a:p>
          <a:p>
            <a:pPr algn="l" lvl="1" marL="406400" indent="-203200">
              <a:lnSpc>
                <a:spcPct val="114000"/>
              </a:lnSpc>
              <a:buSzPct val="100000"/>
              <a:buChar char="◦"/>
            </a:pPr>
            <a:r>
              <a:rPr lang="en-US" sz="1000" spc="-21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Mouth Aspect Ratio (MAR) value and status</a:t>
            </a:r>
            <a:endParaRPr lang="en-US" sz="1000" dirty="0"/>
          </a:p>
          <a:p>
            <a:pPr algn="l" marL="203200" indent="-203200">
              <a:lnSpc>
                <a:spcPct val="114000"/>
              </a:lnSpc>
              <a:buSzPct val="100000"/>
              <a:buChar char="•"/>
            </a:pPr>
            <a:r>
              <a:rPr lang="en-US" sz="1000" spc="-21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        </a:t>
            </a:r>
            <a:pPr algn="l" marL="203200" indent="-203200">
              <a:lnSpc>
                <a:spcPct val="114000"/>
              </a:lnSpc>
              <a:buSzPct val="100000"/>
              <a:buChar char="•"/>
            </a:pPr>
            <a:r>
              <a:rPr lang="en-US" sz="1000" b="1" spc="-21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Head Pose Information:</a:t>
            </a:r>
            <a:pPr algn="l" marL="203200" indent="-203200">
              <a:lnSpc>
                <a:spcPct val="114000"/>
              </a:lnSpc>
              <a:buSzPct val="100000"/>
              <a:buChar char="•"/>
            </a:pPr>
            <a:r>
              <a:rPr lang="en-US" sz="1000" spc="-21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        </a:t>
            </a:r>
            <a:endParaRPr lang="en-US" sz="1000" dirty="0"/>
          </a:p>
          <a:p>
            <a:pPr algn="l" lvl="1" marL="406400" indent="-203200">
              <a:lnSpc>
                <a:spcPct val="114000"/>
              </a:lnSpc>
              <a:buSzPct val="100000"/>
              <a:buChar char="◦"/>
            </a:pPr>
            <a:r>
              <a:rPr lang="en-US" sz="1000" spc="-21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Yaw angle (degrees)</a:t>
            </a:r>
            <a:endParaRPr lang="en-US" sz="1000" dirty="0"/>
          </a:p>
          <a:p>
            <a:pPr algn="l" lvl="1" marL="406400" indent="-203200">
              <a:lnSpc>
                <a:spcPct val="114000"/>
              </a:lnSpc>
              <a:buSzPct val="100000"/>
              <a:buChar char="◦"/>
            </a:pPr>
            <a:r>
              <a:rPr lang="en-US" sz="1000" spc="-21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Pitch angle (degrees)</a:t>
            </a:r>
            <a:endParaRPr lang="en-US" sz="1000" dirty="0"/>
          </a:p>
          <a:p>
            <a:pPr algn="l" lvl="1" marL="406400" indent="-203200">
              <a:lnSpc>
                <a:spcPct val="114000"/>
              </a:lnSpc>
              <a:buSzPct val="100000"/>
              <a:buChar char="◦"/>
            </a:pPr>
            <a:r>
              <a:rPr lang="en-US" sz="1000" spc="-21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Roll angle (degrees)</a:t>
            </a:r>
            <a:endParaRPr lang="en-US" sz="1000" dirty="0"/>
          </a:p>
          <a:p>
            <a:pPr algn="l" lvl="1" marL="406400" indent="-203200">
              <a:lnSpc>
                <a:spcPct val="114000"/>
              </a:lnSpc>
              <a:buSzPct val="100000"/>
              <a:buChar char="◦"/>
            </a:pPr>
            <a:r>
              <a:rPr lang="en-US" sz="1000" spc="-21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Head direction indicator (FORWARD, LEFT, RIGHT, UP, DOWN)</a:t>
            </a:r>
            <a:endParaRPr lang="en-US" sz="1000" dirty="0"/>
          </a:p>
          <a:p>
            <a:pPr algn="l" marL="203200" indent="-203200">
              <a:lnSpc>
                <a:spcPct val="114000"/>
              </a:lnSpc>
              <a:buSzPct val="100000"/>
              <a:buChar char="•"/>
            </a:pPr>
            <a:r>
              <a:rPr lang="en-US" sz="1000" spc="-21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        </a:t>
            </a:r>
            <a:pPr algn="l" marL="203200" indent="-203200">
              <a:lnSpc>
                <a:spcPct val="114000"/>
              </a:lnSpc>
              <a:buSzPct val="100000"/>
              <a:buChar char="•"/>
            </a:pPr>
            <a:r>
              <a:rPr lang="en-US" sz="1000" b="1" spc="-21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Detection Counters:</a:t>
            </a:r>
            <a:pPr algn="l" marL="203200" indent="-203200">
              <a:lnSpc>
                <a:spcPct val="114000"/>
              </a:lnSpc>
              <a:buSzPct val="100000"/>
              <a:buChar char="•"/>
            </a:pPr>
            <a:r>
              <a:rPr lang="en-US" sz="1000" spc="-21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        </a:t>
            </a:r>
            <a:endParaRPr lang="en-US" sz="1000" dirty="0"/>
          </a:p>
          <a:p>
            <a:pPr algn="l" lvl="1" marL="406400" indent="-203200">
              <a:lnSpc>
                <a:spcPct val="114000"/>
              </a:lnSpc>
              <a:buSzPct val="100000"/>
              <a:buChar char="◦"/>
            </a:pPr>
            <a:r>
              <a:rPr lang="en-US" sz="1000" spc="-21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Drowsiness count</a:t>
            </a:r>
            <a:endParaRPr lang="en-US" sz="1000" dirty="0"/>
          </a:p>
          <a:p>
            <a:pPr algn="l" lvl="1" marL="406400" indent="-203200">
              <a:lnSpc>
                <a:spcPct val="114000"/>
              </a:lnSpc>
              <a:buSzPct val="100000"/>
              <a:buChar char="◦"/>
            </a:pPr>
            <a:r>
              <a:rPr lang="en-US" sz="1000" spc="-21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Yawning count</a:t>
            </a:r>
            <a:endParaRPr lang="en-US" sz="1000" dirty="0"/>
          </a:p>
          <a:p>
            <a:pPr algn="l" lvl="1" marL="406400" indent="-203200">
              <a:lnSpc>
                <a:spcPct val="114000"/>
              </a:lnSpc>
              <a:buSzPct val="100000"/>
              <a:buChar char="◦"/>
            </a:pPr>
            <a:r>
              <a:rPr lang="en-US" sz="1000" spc="-21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Distraction count</a:t>
            </a:r>
            <a:endParaRPr lang="en-US" sz="1000" dirty="0"/>
          </a:p>
          <a:p>
            <a:pPr algn="l" lvl="1" marL="406400" indent="-203200">
              <a:lnSpc>
                <a:spcPct val="114000"/>
              </a:lnSpc>
              <a:buSzPct val="100000"/>
              <a:buChar char="◦"/>
            </a:pPr>
            <a:r>
              <a:rPr lang="en-US" sz="1000" spc="-21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Phone detection count</a:t>
            </a:r>
            <a:endParaRPr lang="en-US" sz="1000" dirty="0"/>
          </a:p>
          <a:p>
            <a:pPr algn="l" marL="203200" indent="-203200">
              <a:lnSpc>
                <a:spcPct val="114000"/>
              </a:lnSpc>
              <a:buSzPct val="100000"/>
              <a:buChar char="•"/>
            </a:pPr>
            <a:r>
              <a:rPr lang="en-US" sz="1000" spc="-21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        </a:t>
            </a:r>
            <a:pPr algn="l" marL="203200" indent="-203200">
              <a:lnSpc>
                <a:spcPct val="114000"/>
              </a:lnSpc>
              <a:buSzPct val="100000"/>
              <a:buChar char="•"/>
            </a:pPr>
            <a:r>
              <a:rPr lang="en-US" sz="1000" b="1" spc="-21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Safety Metrics:</a:t>
            </a:r>
            <a:pPr algn="l" marL="203200" indent="-203200">
              <a:lnSpc>
                <a:spcPct val="114000"/>
              </a:lnSpc>
              <a:buSzPct val="100000"/>
              <a:buChar char="•"/>
            </a:pPr>
            <a:r>
              <a:rPr lang="en-US" sz="1000" spc="-21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        </a:t>
            </a:r>
            <a:endParaRPr lang="en-US" sz="1000" dirty="0"/>
          </a:p>
          <a:p>
            <a:pPr algn="l" lvl="1" marL="406400" indent="-203200">
              <a:lnSpc>
                <a:spcPct val="114000"/>
              </a:lnSpc>
              <a:buSzPct val="100000"/>
              <a:buChar char="◦"/>
            </a:pPr>
            <a:r>
              <a:rPr lang="en-US" sz="1000" spc="-21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Current safety score (0-100)</a:t>
            </a:r>
            <a:endParaRPr lang="en-US" sz="1000" dirty="0"/>
          </a:p>
          <a:p>
            <a:pPr algn="l" lvl="1" marL="406400" indent="-203200">
              <a:lnSpc>
                <a:spcPct val="114000"/>
              </a:lnSpc>
              <a:buSzPct val="100000"/>
              <a:buChar char="◦"/>
            </a:pPr>
            <a:r>
              <a:rPr lang="en-US" sz="1000" spc="-21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Safety status (SAFE, MODERATE, WARNING, HIGH RISK)</a:t>
            </a:r>
            <a:endParaRPr lang="en-US" sz="1000" dirty="0"/>
          </a:p>
          <a:p>
            <a:pPr algn="l" lvl="1" marL="406400" indent="-203200">
              <a:lnSpc>
                <a:spcPct val="114000"/>
              </a:lnSpc>
              <a:buSzPct val="100000"/>
              <a:buChar char="◦"/>
            </a:pPr>
            <a:r>
              <a:rPr lang="en-US" sz="1000" spc="-21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Status color indicator (green, yellow, orange, red)</a:t>
            </a:r>
            <a:endParaRPr lang="en-US" sz="1000" dirty="0"/>
          </a:p>
          <a:p>
            <a:pPr algn="l" marL="203200" indent="-203200">
              <a:lnSpc>
                <a:spcPct val="114000"/>
              </a:lnSpc>
              <a:buSzPct val="100000"/>
              <a:buChar char="•"/>
            </a:pPr>
            <a:r>
              <a:rPr lang="en-US" sz="1000" spc="-21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        </a:t>
            </a:r>
            <a:pPr algn="l" marL="203200" indent="-203200">
              <a:lnSpc>
                <a:spcPct val="114000"/>
              </a:lnSpc>
              <a:buSzPct val="100000"/>
              <a:buChar char="•"/>
            </a:pPr>
            <a:r>
              <a:rPr lang="en-US" sz="1000" b="1" spc="-21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Phone Detection Status:</a:t>
            </a:r>
            <a:pPr algn="l" marL="203200" indent="-203200">
              <a:lnSpc>
                <a:spcPct val="114000"/>
              </a:lnSpc>
              <a:buSzPct val="100000"/>
              <a:buChar char="•"/>
            </a:pPr>
            <a:r>
              <a:rPr lang="en-US" sz="1000" spc="-21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        </a:t>
            </a:r>
            <a:endParaRPr lang="en-US" sz="1000" dirty="0"/>
          </a:p>
          <a:p>
            <a:pPr algn="l" lvl="1" marL="406400" indent="-203200">
              <a:lnSpc>
                <a:spcPct val="114000"/>
              </a:lnSpc>
              <a:buSzPct val="100000"/>
              <a:buChar char="◦"/>
            </a:pPr>
            <a:r>
              <a:rPr lang="en-US" sz="1000" spc="-21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Phone detected: Yes/No</a:t>
            </a:r>
            <a:endParaRPr lang="en-US" sz="1000" dirty="0"/>
          </a:p>
          <a:p>
            <a:pPr algn="l" lvl="1" marL="406400" indent="-203200">
              <a:lnSpc>
                <a:spcPct val="114000"/>
              </a:lnSpc>
              <a:buSzPct val="100000"/>
              <a:buChar char="◦"/>
            </a:pPr>
            <a:r>
              <a:rPr lang="en-US" sz="1000" spc="-21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Confidence score (0-100%)</a:t>
            </a:r>
            <a:endParaRPr lang="en-US" sz="1000" dirty="0"/>
          </a:p>
          <a:p>
            <a:pPr algn="l" lvl="1" marL="406400" indent="-203200">
              <a:lnSpc>
                <a:spcPct val="114000"/>
              </a:lnSpc>
              <a:buSzPct val="100000"/>
              <a:buChar char="◦"/>
            </a:pPr>
            <a:r>
              <a:rPr lang="en-US" sz="1000" spc="-21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Bounding box visualization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19807"/>
            <a:ext cx="10868745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b="1" spc="-56" kern="0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Complete Working Flow</a:t>
            </a:r>
            <a:endParaRPr lang="en-US" sz="1850" dirty="0"/>
          </a:p>
        </p:txBody>
      </p:sp>
      <p:sp>
        <p:nvSpPr>
          <p:cNvPr id="3" name="Text 1"/>
          <p:cNvSpPr/>
          <p:nvPr/>
        </p:nvSpPr>
        <p:spPr>
          <a:xfrm>
            <a:off x="661475" y="909538"/>
            <a:ext cx="11478330" cy="1134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00" spc="-15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This flowchart illustrates the end-to-end execution of the driver monitoring system, from initialization to real-time event processing and user feedback.</a:t>
            </a:r>
            <a:endParaRPr lang="en-US" sz="7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97015" y="1076027"/>
            <a:ext cx="8397566" cy="5787231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2107337" y="4677049"/>
            <a:ext cx="2294828" cy="3056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900" b="1" spc="-58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START → Init</a:t>
            </a:r>
            <a:endParaRPr lang="en-US" sz="1900" dirty="0"/>
          </a:p>
        </p:txBody>
      </p:sp>
      <p:sp>
        <p:nvSpPr>
          <p:cNvPr id="6" name="Text 3"/>
          <p:cNvSpPr/>
          <p:nvPr/>
        </p:nvSpPr>
        <p:spPr>
          <a:xfrm>
            <a:off x="4062857" y="2246811"/>
            <a:ext cx="2369380" cy="3056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900" b="1" spc="-58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Initialize Models</a:t>
            </a:r>
            <a:endParaRPr lang="en-US" sz="1900" dirty="0"/>
          </a:p>
        </p:txBody>
      </p:sp>
      <p:sp>
        <p:nvSpPr>
          <p:cNvPr id="7" name="Text 4"/>
          <p:cNvSpPr/>
          <p:nvPr/>
        </p:nvSpPr>
        <p:spPr>
          <a:xfrm>
            <a:off x="5653426" y="5388798"/>
            <a:ext cx="2294828" cy="3056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900" b="1" spc="-58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MAIN LOOP</a:t>
            </a:r>
            <a:endParaRPr lang="en-US" sz="1900" dirty="0"/>
          </a:p>
        </p:txBody>
      </p:sp>
      <p:sp>
        <p:nvSpPr>
          <p:cNvPr id="8" name="Text 5"/>
          <p:cNvSpPr/>
          <p:nvPr/>
        </p:nvSpPr>
        <p:spPr>
          <a:xfrm>
            <a:off x="7690461" y="2886553"/>
            <a:ext cx="2294828" cy="3056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900" b="1" spc="-58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STOP</a:t>
            </a:r>
            <a:endParaRPr lang="en-US" sz="1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19807"/>
            <a:ext cx="10868745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b="1" spc="-56" kern="0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Conclusion and Future Scope</a:t>
            </a:r>
            <a:endParaRPr lang="en-US" sz="1850" dirty="0"/>
          </a:p>
        </p:txBody>
      </p:sp>
      <p:sp>
        <p:nvSpPr>
          <p:cNvPr id="3" name="Text 1"/>
          <p:cNvSpPr/>
          <p:nvPr/>
        </p:nvSpPr>
        <p:spPr>
          <a:xfrm>
            <a:off x="661475" y="833934"/>
            <a:ext cx="10868745" cy="2362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50" b="1" spc="-45" kern="0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Conclusion</a:t>
            </a:r>
            <a:endParaRPr lang="en-US" sz="145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1475" y="1141016"/>
            <a:ext cx="472468" cy="567035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181170" y="1235472"/>
            <a:ext cx="10349050" cy="1134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00" spc="-15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system provides real-time, non-intrusive monitoring of driver behavior using computer vision</a:t>
            </a:r>
            <a:endParaRPr lang="en-US" sz="70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1475" y="1708051"/>
            <a:ext cx="472468" cy="567035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181170" y="1802507"/>
            <a:ext cx="10349050" cy="1134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00" spc="-15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It combines multiple AI/ML techniques: facial landmark analysis, head-pose estimation, and object detection</a:t>
            </a:r>
            <a:endParaRPr lang="en-US" sz="700" dirty="0"/>
          </a:p>
        </p:txBody>
      </p:sp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475" y="2275086"/>
            <a:ext cx="472468" cy="567035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1181170" y="2369542"/>
            <a:ext cx="10349050" cy="1134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00" spc="-15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Detects four critical unsafe driving conditions: drowsiness, yawning, distraction, and mobile phone usage</a:t>
            </a:r>
            <a:endParaRPr lang="en-US" sz="700" dirty="0"/>
          </a:p>
        </p:txBody>
      </p:sp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1475" y="2842121"/>
            <a:ext cx="472468" cy="567035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1181170" y="2936577"/>
            <a:ext cx="10349050" cy="1134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00" spc="-15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Provides immediate voice alerts to warn the driver of unsafe conditions</a:t>
            </a:r>
            <a:endParaRPr lang="en-US" sz="700" dirty="0"/>
          </a:p>
        </p:txBody>
      </p:sp>
      <p:pic>
        <p:nvPicPr>
          <p:cNvPr id="1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1475" y="3409156"/>
            <a:ext cx="472468" cy="567035"/>
          </a:xfrm>
          <a:prstGeom prst="rect">
            <a:avLst/>
          </a:prstGeom>
        </p:spPr>
      </p:pic>
      <p:sp>
        <p:nvSpPr>
          <p:cNvPr id="13" name="Text 6"/>
          <p:cNvSpPr/>
          <p:nvPr/>
        </p:nvSpPr>
        <p:spPr>
          <a:xfrm>
            <a:off x="1181170" y="3503613"/>
            <a:ext cx="10349050" cy="1134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00" spc="-15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Maintains a comprehensive event history with timestamps and durations</a:t>
            </a:r>
            <a:endParaRPr lang="en-US" sz="700" dirty="0"/>
          </a:p>
        </p:txBody>
      </p:sp>
      <p:pic>
        <p:nvPicPr>
          <p:cNvPr id="14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1475" y="3976191"/>
            <a:ext cx="472468" cy="567035"/>
          </a:xfrm>
          <a:prstGeom prst="rect">
            <a:avLst/>
          </a:prstGeom>
        </p:spPr>
      </p:pic>
      <p:sp>
        <p:nvSpPr>
          <p:cNvPr id="15" name="Text 7"/>
          <p:cNvSpPr/>
          <p:nvPr/>
        </p:nvSpPr>
        <p:spPr>
          <a:xfrm>
            <a:off x="1181170" y="4070648"/>
            <a:ext cx="10349050" cy="1134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00" spc="-15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Displays a real-time safety dashboard with driver status and safety score</a:t>
            </a:r>
            <a:endParaRPr lang="en-US" sz="700" dirty="0"/>
          </a:p>
        </p:txBody>
      </p:sp>
      <p:pic>
        <p:nvPicPr>
          <p:cNvPr id="16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1475" y="4543227"/>
            <a:ext cx="472468" cy="567035"/>
          </a:xfrm>
          <a:prstGeom prst="rect">
            <a:avLst/>
          </a:prstGeom>
        </p:spPr>
      </p:pic>
      <p:sp>
        <p:nvSpPr>
          <p:cNvPr id="17" name="Text 8"/>
          <p:cNvSpPr/>
          <p:nvPr/>
        </p:nvSpPr>
        <p:spPr>
          <a:xfrm>
            <a:off x="1181170" y="4637683"/>
            <a:ext cx="10349050" cy="1134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00" spc="-15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Demonstrates practical application of MediaPipe, OpenCV, and YOLO in automotive safety</a:t>
            </a:r>
            <a:endParaRPr lang="en-US" sz="700" dirty="0"/>
          </a:p>
        </p:txBody>
      </p:sp>
      <p:sp>
        <p:nvSpPr>
          <p:cNvPr id="18" name="Text 9"/>
          <p:cNvSpPr/>
          <p:nvPr/>
        </p:nvSpPr>
        <p:spPr>
          <a:xfrm>
            <a:off x="661475" y="5181104"/>
            <a:ext cx="10868745" cy="2362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50" b="1" spc="-45" kern="0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Future Scope and Enhancements</a:t>
            </a:r>
            <a:endParaRPr lang="en-US" sz="1450" dirty="0"/>
          </a:p>
        </p:txBody>
      </p:sp>
      <p:pic>
        <p:nvPicPr>
          <p:cNvPr id="19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61475" y="5488186"/>
            <a:ext cx="472468" cy="567035"/>
          </a:xfrm>
          <a:prstGeom prst="rect">
            <a:avLst/>
          </a:prstGeom>
        </p:spPr>
      </p:pic>
      <p:sp>
        <p:nvSpPr>
          <p:cNvPr id="20" name="Text 10"/>
          <p:cNvSpPr/>
          <p:nvPr/>
        </p:nvSpPr>
        <p:spPr>
          <a:xfrm>
            <a:off x="1181170" y="5582642"/>
            <a:ext cx="10349050" cy="1134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00" spc="-15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Infrared/night-time monitoring for low-light driving conditions</a:t>
            </a:r>
            <a:endParaRPr lang="en-US" sz="700" dirty="0"/>
          </a:p>
        </p:txBody>
      </p:sp>
      <p:pic>
        <p:nvPicPr>
          <p:cNvPr id="21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61475" y="6055221"/>
            <a:ext cx="472468" cy="567035"/>
          </a:xfrm>
          <a:prstGeom prst="rect">
            <a:avLst/>
          </a:prstGeom>
        </p:spPr>
      </p:pic>
      <p:sp>
        <p:nvSpPr>
          <p:cNvPr id="22" name="Text 11"/>
          <p:cNvSpPr/>
          <p:nvPr/>
        </p:nvSpPr>
        <p:spPr>
          <a:xfrm>
            <a:off x="1181170" y="6149677"/>
            <a:ext cx="10349050" cy="1134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00" spc="-15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Improved robustness under varying lighting conditions and camera angles</a:t>
            </a:r>
            <a:endParaRPr lang="en-US" sz="700" dirty="0"/>
          </a:p>
        </p:txBody>
      </p:sp>
      <p:pic>
        <p:nvPicPr>
          <p:cNvPr id="23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61475" y="6622256"/>
            <a:ext cx="472468" cy="567035"/>
          </a:xfrm>
          <a:prstGeom prst="rect">
            <a:avLst/>
          </a:prstGeom>
        </p:spPr>
      </p:pic>
      <p:sp>
        <p:nvSpPr>
          <p:cNvPr id="24" name="Text 12"/>
          <p:cNvSpPr/>
          <p:nvPr/>
        </p:nvSpPr>
        <p:spPr>
          <a:xfrm>
            <a:off x="1181170" y="6716712"/>
            <a:ext cx="10349050" cy="1134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00" spc="-15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Driver-specific calibration for personalized threshold adjustment</a:t>
            </a:r>
            <a:endParaRPr lang="en-US" sz="700" dirty="0"/>
          </a:p>
        </p:txBody>
      </p:sp>
      <p:pic>
        <p:nvPicPr>
          <p:cNvPr id="25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61475" y="7189291"/>
            <a:ext cx="472468" cy="567035"/>
          </a:xfrm>
          <a:prstGeom prst="rect">
            <a:avLst/>
          </a:prstGeom>
        </p:spPr>
      </p:pic>
      <p:sp>
        <p:nvSpPr>
          <p:cNvPr id="26" name="Text 13"/>
          <p:cNvSpPr/>
          <p:nvPr/>
        </p:nvSpPr>
        <p:spPr>
          <a:xfrm>
            <a:off x="1181170" y="7283748"/>
            <a:ext cx="10349050" cy="1134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00" spc="-15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Advanced temporal deep-learning models (LSTM, Transformer) for better context awareness</a:t>
            </a:r>
            <a:endParaRPr lang="en-US" sz="700" dirty="0"/>
          </a:p>
        </p:txBody>
      </p:sp>
      <p:pic>
        <p:nvPicPr>
          <p:cNvPr id="27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61475" y="7756327"/>
            <a:ext cx="472468" cy="567035"/>
          </a:xfrm>
          <a:prstGeom prst="rect">
            <a:avLst/>
          </a:prstGeom>
        </p:spPr>
      </p:pic>
      <p:sp>
        <p:nvSpPr>
          <p:cNvPr id="28" name="Text 14"/>
          <p:cNvSpPr/>
          <p:nvPr/>
        </p:nvSpPr>
        <p:spPr>
          <a:xfrm>
            <a:off x="1181170" y="7850783"/>
            <a:ext cx="10349050" cy="1134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00" spc="-15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Integration with vehicle CAN bus systems for automated safety responses</a:t>
            </a:r>
            <a:endParaRPr lang="en-US" sz="700" dirty="0"/>
          </a:p>
        </p:txBody>
      </p:sp>
      <p:pic>
        <p:nvPicPr>
          <p:cNvPr id="29" name="Image 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61475" y="8323362"/>
            <a:ext cx="472468" cy="567035"/>
          </a:xfrm>
          <a:prstGeom prst="rect">
            <a:avLst/>
          </a:prstGeom>
        </p:spPr>
      </p:pic>
      <p:sp>
        <p:nvSpPr>
          <p:cNvPr id="30" name="Text 15"/>
          <p:cNvSpPr/>
          <p:nvPr/>
        </p:nvSpPr>
        <p:spPr>
          <a:xfrm>
            <a:off x="1181170" y="8417818"/>
            <a:ext cx="10349050" cy="1134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00" spc="-15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Cloud-based monitoring and analytics for fleet management</a:t>
            </a:r>
            <a:endParaRPr lang="en-US" sz="700" dirty="0"/>
          </a:p>
        </p:txBody>
      </p:sp>
      <p:pic>
        <p:nvPicPr>
          <p:cNvPr id="31" name="Image 13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61475" y="8890397"/>
            <a:ext cx="472468" cy="567035"/>
          </a:xfrm>
          <a:prstGeom prst="rect">
            <a:avLst/>
          </a:prstGeom>
        </p:spPr>
      </p:pic>
      <p:sp>
        <p:nvSpPr>
          <p:cNvPr id="32" name="Text 16"/>
          <p:cNvSpPr/>
          <p:nvPr/>
        </p:nvSpPr>
        <p:spPr>
          <a:xfrm>
            <a:off x="1181170" y="8984853"/>
            <a:ext cx="10349050" cy="1134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00" spc="-15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GPS/location-based emergency notification to nearby authorities</a:t>
            </a:r>
            <a:endParaRPr lang="en-US" sz="700" dirty="0"/>
          </a:p>
        </p:txBody>
      </p:sp>
      <p:pic>
        <p:nvPicPr>
          <p:cNvPr id="33" name="Image 14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61475" y="9457432"/>
            <a:ext cx="472468" cy="567035"/>
          </a:xfrm>
          <a:prstGeom prst="rect">
            <a:avLst/>
          </a:prstGeom>
        </p:spPr>
      </p:pic>
      <p:sp>
        <p:nvSpPr>
          <p:cNvPr id="34" name="Text 17"/>
          <p:cNvSpPr/>
          <p:nvPr/>
        </p:nvSpPr>
        <p:spPr>
          <a:xfrm>
            <a:off x="1181170" y="9551888"/>
            <a:ext cx="10349050" cy="1134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00" spc="-15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Evaluation on larger-scale public datasets (e.g., NTHU-DDD, Columbia Gaze Tracking)</a:t>
            </a:r>
            <a:endParaRPr lang="en-US" sz="700" dirty="0"/>
          </a:p>
        </p:txBody>
      </p:sp>
      <p:pic>
        <p:nvPicPr>
          <p:cNvPr id="35" name="Image 15" descr="preencoded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661475" y="10024467"/>
            <a:ext cx="472468" cy="567035"/>
          </a:xfrm>
          <a:prstGeom prst="rect">
            <a:avLst/>
          </a:prstGeom>
        </p:spPr>
      </p:pic>
      <p:sp>
        <p:nvSpPr>
          <p:cNvPr id="36" name="Text 18"/>
          <p:cNvSpPr/>
          <p:nvPr/>
        </p:nvSpPr>
        <p:spPr>
          <a:xfrm>
            <a:off x="1181170" y="10118923"/>
            <a:ext cx="10349050" cy="1134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00" spc="-15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Multi-modal sensor fusion (thermal, radar) for enhanced detection</a:t>
            </a:r>
            <a:endParaRPr lang="en-US" sz="7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2026-09-21T05:38:34Z</dcterms:created>
  <dcterms:modified xsi:type="dcterms:W3CDTF">2026-09-21T05:38:34Z</dcterms:modified>
</cp:coreProperties>
</file>